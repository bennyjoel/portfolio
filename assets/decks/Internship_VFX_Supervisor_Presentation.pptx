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Distinguished members of the review committee, welcome. Today I present the defense of my feature film visual effects internship, during which I served in a dual capacity as Assistant VFX Supervisor, On-Set Data Acquisition Specialist, Production Pipeline Coordinator, and 3D Camera Tracking Artist.</a:t>
            </a:r>
          </a:p>
          <a:p/>
          <a:p>
            <a:r>
              <a:t>Over the course of 45 principal photography shoot days across six soundstages and practical locations, I supervised technical operations for 142 complex visual effects shots. My operational mandate bridged two distinct theaters: the physical shooting floor—where I collaborated with the Director and DP to acquire ground-truth spatial and photometric telemetry—and the digital studio floor, where I coordinated editorial ingestion, led the matchmove bullpen, and enforced strict multi-tier quality control.</a:t>
            </a:r>
          </a:p>
          <a:p/>
          <a:p>
            <a:r>
              <a:t>Every single one of our 142 shots achieved 100% on-time studio conform sign-off without a single technical rejection. Let us examine the technical pipeline that made this possible.</a:t>
            </a:r>
          </a:p>
          <a:p/>
          <a:p>
            <a:r>
              <a:t>[STAGE &amp; VISUAL CHOREOGRAPHY CUE]</a:t>
            </a:r>
          </a:p>
          <a:p>
            <a:r>
              <a:t>- Direct committee attention to Card 1 for operational authority and Card 2 for production scale.</a:t>
            </a:r>
          </a:p>
          <a:p>
            <a:r>
              <a:t>- Highlight the 142 shots and 100% sign-off metric badges.</a:t>
            </a:r>
          </a:p>
          <a:p/>
          <a:p>
            <a:r>
              <a:t>[NARRATIVE TRANSITION CUE]</a:t>
            </a:r>
          </a:p>
          <a:p>
            <a:r>
              <a:t>- Let us examine the technical pipeline that made this possible, beginning with on-set directorial consultations on Slide 02.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fast-moving feature film set, the Assistant VFX Supervisor acts as the vital bridge between creative ambition and technical reality. On Slide 2, we see the strategic framework I established for directorial consultations and floor feasibility.</a:t>
            </a:r>
          </a:p>
          <a:p/>
          <a:p>
            <a:r>
              <a:t>Across 34 critical on-set consultations with the Director and Director of Photography, I established the exact physical-to-digital demarcation line—capping physical builds at 12.5 feet and allocating upper architectures to digital matte extensions. By negotiating practical practicals—such as keeping physical floor debris and interactive lighting hits on set while reserving structural damage for CG—we prevented over $180,000 in downstream roto and clean-up costs.</a:t>
            </a:r>
          </a:p>
          <a:p/>
          <a:p>
            <a:r>
              <a:t>Furthermore, my real-time floor triage protocol ensured that clean plates and lighting reference passes were locked immediately following hero takes, preserving crucial visual context that saved an estimated 28% in turnaround time.</a:t>
            </a:r>
          </a:p>
          <a:p/>
          <a:p>
            <a:r>
              <a:t>[STAGE &amp; VISUAL CHOREOGRAPHY CUE]</a:t>
            </a:r>
          </a:p>
          <a:p>
            <a:r>
              <a:t>- Point to Left Card illustrating physical 12.5-foot demarcation.</a:t>
            </a:r>
          </a:p>
          <a:p>
            <a:r>
              <a:t>- Emphasize $180K cost avoidance and 28% stage turnaround metric.</a:t>
            </a:r>
          </a:p>
          <a:p/>
          <a:p>
            <a:r>
              <a:t>[NARRATIVE TRANSITION CUE]</a:t>
            </a:r>
          </a:p>
          <a:p>
            <a:r>
              <a:t>- Having established feasibility on the floor, we turn to physical spatial architecture and set extension sightlines on Slide 03.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Slide 3, we address Set Extension Planning and Visual Sightline Geometry. A successful digital set extension depends entirely on the geometric discipline established on the physical shooting stage.</a:t>
            </a:r>
          </a:p>
          <a:p/>
          <a:p>
            <a:r>
              <a:t>For each of our six master soundstage environments, I mapped camera frustum cones across our primary focal lengths—from 24mm wide angles to 85mm portrait lenses—factoring in dynamic crane swings. We standardized the physical-to-virtual transition seam at 12.5 meters elevation, using physical architectural trim lines as geometric datum anchors.</a:t>
            </a:r>
          </a:p>
          <a:p/>
          <a:p>
            <a:r>
              <a:t>Crucially, our chroma-key protocol mandated a strict 4.5-meter separation between actors and backdrop screens, lighting the screens precisely one stop below key exposure. This eliminated edge contamination and chroma spill before footage ever reached the comp bullpen, ensuring that our virtual background extensions locked seamlessly to the physical practical build.</a:t>
            </a:r>
          </a:p>
          <a:p/>
          <a:p>
            <a:r>
              <a:t>[STAGE &amp; VISUAL CHOREOGRAPHY CUE]</a:t>
            </a:r>
          </a:p>
          <a:p>
            <a:r>
              <a:t>- Walk through the 3 cards sequentially: Frustum Geometry -&gt; Screen Rigging -&gt; Seam Alignment.</a:t>
            </a:r>
          </a:p>
          <a:p>
            <a:r>
              <a:t>- Reference the 12.5m elevation and 4.5m separation metrics.</a:t>
            </a:r>
          </a:p>
          <a:p/>
          <a:p>
            <a:r>
              <a:t>[NARRATIVE TRANSITION CUE]</a:t>
            </a:r>
          </a:p>
          <a:p>
            <a:r>
              <a:t>- Once set boundaries are rigged, spatial tracking anchors must be engineered across these depth tiers, as detailed on Slide 04.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our Tracking Marker Distribution Strategy. High-precision 3D matchmoving cannot occur without deliberate, mathematically structured spatial anchors on the shooting floor.</a:t>
            </a:r>
          </a:p>
          <a:p/>
          <a:p>
            <a:r>
              <a:t>Across six stages, I supervised the placement of over 1,200 calibrated markers. Rather than scattering random tape crosses, we engineered a three-tier depth distribution spanning foreground props, midground structures, and background screens. This forced geometric parallax even during subtle camera moves, completely preventing planar solve collapse.</a:t>
            </a:r>
          </a:p>
          <a:p/>
          <a:p>
            <a:r>
              <a:t>Equally important was our paint-out mitigation protocol: I enforced strict exclusion zones around actor silhouettes and hair detail, utilizing chroma-matched markers that dissolved cleanly during keying. This meticulous floor preparation enabled our tracking bullpen to achieve sub-0.35 pixel solve consistency while saving hundreds of paint and roto artist hours.</a:t>
            </a:r>
          </a:p>
          <a:p/>
          <a:p>
            <a:r>
              <a:t>[STAGE &amp; VISUAL CHOREOGRAPHY CUE]</a:t>
            </a:r>
          </a:p>
          <a:p>
            <a:r>
              <a:t>- Draw attention to Center Card on Multi-Plane Depth Distribution.</a:t>
            </a:r>
          </a:p>
          <a:p>
            <a:r>
              <a:t>- Highlight the 3 depth planes (2-4m, 6-10m, 12-25m) preventing solve collapse.</a:t>
            </a:r>
          </a:p>
          <a:p/>
          <a:p>
            <a:r>
              <a:t>[NARRATIVE TRANSITION CUE]</a:t>
            </a:r>
          </a:p>
          <a:p>
            <a:r>
              <a:t>- Beyond visual markers, absolute physical metrology provides mathematical truth, leading directly to Ground Truth Spatial Data on Slide 05.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Ground Truth Spatial Data Acquisition and Set Surveying. In 3D matchmoving, assumptions are fatal—mathematical certainty is required.</a:t>
            </a:r>
          </a:p>
          <a:p/>
          <a:p>
            <a:r>
              <a:t>For every single setup across 350 camera takes, I utilized precision Leica laser meters and digital inclinometers to record exact sensor plane height, lens tilt, roll, and focus distance to within 0.5 millimeters of accuracy. We established fixed zero-datum survey benchmarks on every stage, measuring tracker-to-tracker baselines that provided our 3D tracking software with absolute ground-truth scale constraints.</a:t>
            </a:r>
          </a:p>
          <a:p/>
          <a:p>
            <a:r>
              <a:t>Furthermore, I deployed two jam-synced witness cameras positioned 45 degrees off-axis to capture spatial trajectories outside the main camera frustum. These physical survey sheets and synchronized witness feeds eliminated focal length drift and depth ambiguity, turning complex shots into deterministic solves.</a:t>
            </a:r>
          </a:p>
          <a:p/>
          <a:p>
            <a:r>
              <a:t>[STAGE &amp; VISUAL CHOREOGRAPHY CUE]</a:t>
            </a:r>
          </a:p>
          <a:p>
            <a:r>
              <a:t>- Direct focus to 2x2 grid quadrants: Optical Telemetry, Set Metrology, Witness Sync, and Standardized Slating.</a:t>
            </a:r>
          </a:p>
          <a:p>
            <a:r>
              <a:t>- Emphasize the 0.5mm laser tolerance and 350+ setup sheets.</a:t>
            </a:r>
          </a:p>
          <a:p/>
          <a:p>
            <a:r>
              <a:t>[NARRATIVE TRANSITION CUE]</a:t>
            </a:r>
          </a:p>
          <a:p>
            <a:r>
              <a:t>- With spatial geometry measured, we turn to capturing the photometric environment—detailed on Slide 06.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our On-Set Lighting Capture and Photometric Reference workflow. Photorealistic CG asset integration demands absolute fidelity between on-set lighting and digital shader lookdev.</a:t>
            </a:r>
          </a:p>
          <a:p/>
          <a:p>
            <a:r>
              <a:t>For every primary lighting setup, I captured high-dynamic-range 360-degree panoramas across seven bracketed exposures spanning more than 14 stops of dynamic range. Processed into 32-bit floating-point OpenEXR environment maps, these captured the exact luminance profile of every physical source on set.</a:t>
            </a:r>
          </a:p>
          <a:p/>
          <a:p>
            <a:r>
              <a:t>Immediately following hero takes, I stepped in with our 12-inch chrome and 18% neutral grey calibration spheres, along with X-Rite ColorChecker charts. Ingested through our ACEScg color pipeline, these physical references allowed our lighting artists in Maya and Houdini to calibrate digital key-to-fill ratios and specular reflections with mathematical perfection against the live-action plate.</a:t>
            </a:r>
          </a:p>
          <a:p/>
          <a:p>
            <a:r>
              <a:t>[STAGE &amp; VISUAL CHOREOGRAPHY CUE]</a:t>
            </a:r>
          </a:p>
          <a:p>
            <a:r>
              <a:t>- Highlight the 3-step photometric progression: HDRI Panoramas -&gt; Calibration Spheres -&gt; ACEScg Standardization.</a:t>
            </a:r>
          </a:p>
          <a:p>
            <a:r>
              <a:t>- Point out the 48 HDRIs and 14+ EV dynamic range badges.</a:t>
            </a:r>
          </a:p>
          <a:p/>
          <a:p>
            <a:r>
              <a:t>[NARRATIVE TRANSITION CUE]</a:t>
            </a:r>
          </a:p>
          <a:p>
            <a:r>
              <a:t>- From lighting probes, we expand our acquisition to dense 3D surface scanning—examined on Slide 07.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demonstrates our 3D Set Scanning and Photogrammetry operations. Having digital twins of our physical soundstages was essential for camera matchmoving, CG shadow casting, and foreground occlusion.</a:t>
            </a:r>
          </a:p>
          <a:p/>
          <a:p>
            <a:r>
              <a:t>Using Faro Focus and Leica RTC360 terrestrial LiDAR scanners, I conducted comprehensive spatial surveys across 18 master sets. By placing physical target spheres throughout the environment, we registered multi-station scans with a mean registration error of under 2 millimeters.</a:t>
            </a:r>
          </a:p>
          <a:p/>
          <a:p>
            <a:r>
              <a:t>In parallel, I conducted cross-polarized photogrammetry passes to capture pure, specular-free diffuse textures for hero props. In Houdini and Maya, I processed these dense point clouds into optimized, quad-dominant proxy meshes and USD assets. These models gave our tracking artists immediate ground-truth geometry to lock camera trajectories and provided compositors with perfect holdout mattes.</a:t>
            </a:r>
          </a:p>
          <a:p/>
          <a:p>
            <a:r>
              <a:t>[STAGE &amp; VISUAL CHOREOGRAPHY CUE]</a:t>
            </a:r>
          </a:p>
          <a:p>
            <a:r>
              <a:t>- Refer to Card 1 for Faro Focus/RTC360 LiDAR operations and Card 3 for USD asset export.</a:t>
            </a:r>
          </a:p>
          <a:p>
            <a:r>
              <a:t>- Emphasize sub-2.0mm multi-station registration accuracy.</a:t>
            </a:r>
          </a:p>
          <a:p/>
          <a:p>
            <a:r>
              <a:t>[NARRATIVE TRANSITION CUE]</a:t>
            </a:r>
          </a:p>
          <a:p>
            <a:r>
              <a:t>- With floor data locked, we transition from the physical stage to the editorial ingest room on Slide 08.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our Footage Intake and Editorial Pipeline Coordination. The link between the physical camera card and the VFX artist's workstation must be completely bulletproof.</a:t>
            </a:r>
          </a:p>
          <a:p/>
          <a:p>
            <a:r>
              <a:t>As raw camera rushes arrived from the DIT cart, I executed automated checksum verifications and audited embedded timecode and lens metadata against our on-set logs across 420 takes. I instituted a four-tier plate categorization structure—separating hero plates, clean plates, lighting reference, and witness footage into standardized ACEScg OpenEXR sequences.</a:t>
            </a:r>
          </a:p>
          <a:p/>
          <a:p>
            <a:r>
              <a:t>Working closely with the editorial cutting room, I managed all Shot Change Orders through automated EDL diff tracking. By strictly enforcing an eight-frame head and tail handle policy on every shot, we accommodated editorial trim adjustments smoothly, ensuring zero frame-rate mismatches or timeline conformed errors across the entire production.</a:t>
            </a:r>
          </a:p>
          <a:p/>
          <a:p>
            <a:r>
              <a:t>[STAGE &amp; VISUAL CHOREOGRAPHY CUE]</a:t>
            </a:r>
          </a:p>
          <a:p>
            <a:r>
              <a:t>- Walk through the 3 cards: Ingestion -&gt; Plate Taxonomy -&gt; Editorial Cut Updates.</a:t>
            </a:r>
          </a:p>
          <a:p>
            <a:r>
              <a:t>- Highlight +8 frame handle standard and zero conform errors.</a:t>
            </a:r>
          </a:p>
          <a:p/>
          <a:p>
            <a:r>
              <a:t>[NARRATIVE TRANSITION CUE]</a:t>
            </a:r>
          </a:p>
          <a:p>
            <a:r>
              <a:t>- With plates conformed, directorial vision must be translated for the artist bullpen, as examined on Slide 09.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addresses one of the most critical leadership responsibilities of an Assistant VFX Supervisor: translating Director Intent into Technical VFX Briefings.</a:t>
            </a:r>
          </a:p>
          <a:p/>
          <a:p>
            <a:r>
              <a:t>Directors speak in the language of narrative, emotion, and dramatic tension; digital artists require exact pixel parameters, geometric constraints, and delivery specs. Across 142 shot briefs, I acted as this technical translator.</a:t>
            </a:r>
          </a:p>
          <a:p/>
          <a:p>
            <a:r>
              <a:t>When the Director requested that a sequence feel 'heavy, industrial, and oppressive,' I translated that into specific atmospheric haze densities, reduced key-to-fill light ratios, and background extension silhouettes with specific architectural proportions. Each technical brief packaged the exact camera solve, LiDAR geometry, HDRI light rig, and lens distortion ST-Map required. This eliminated creative guesswork, maintained absolute stylistic consistency, and kept our bullpen execution laser-focused.</a:t>
            </a:r>
          </a:p>
          <a:p/>
          <a:p>
            <a:r>
              <a:t>[STAGE &amp; VISUAL CHOREOGRAPHY CUE]</a:t>
            </a:r>
          </a:p>
          <a:p>
            <a:r>
              <a:t>- Contrast Left Card (Narrative Extraction) with Right Card (Technical Asset Packaging).</a:t>
            </a:r>
          </a:p>
          <a:p>
            <a:r>
              <a:t>- Highlight the 4 difficulty tiers (A through D) and 15-minute briefing turnaround.</a:t>
            </a:r>
          </a:p>
          <a:p/>
          <a:p>
            <a:r>
              <a:t>[NARRATIVE TRANSITION CUE]</a:t>
            </a:r>
          </a:p>
          <a:p>
            <a:r>
              <a:t>- As artists produce work against these briefs, our quality control pipeline activates on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Quality Control and Shot Assembly Pipeline. High production standards are maintained through unrelenting technical verification before any shot reaches client eyes.</a:t>
            </a:r>
          </a:p>
          <a:p/>
          <a:p>
            <a:r>
              <a:t>I designed and implemented a four-tier forensic QC protocol. First, automated Python scripts generated standardized 24-frame review slates with burned-in timecode, handles, and metadata. Second, we conducted spatial audits—wiping tracking solves against LiDAR wireframes to verify zero sub-pixel drift.</a:t>
            </a:r>
          </a:p>
          <a:p/>
          <a:p>
            <a:r>
              <a:t>Third, we audited photometric integrity in ACEScg, ensuring that digital black levels and highlight roll-offs matched native camera sensor values precisely. Finally, we inspected edge mattes at 200% zoom to eliminate keying chatter, and verified that synthetic film grain was sampled directly from the hero camera plate. This multi-tiered inspection resulted in zero technical rejections during studio deliveries.</a:t>
            </a:r>
          </a:p>
          <a:p/>
          <a:p>
            <a:r>
              <a:t>[STAGE &amp; VISUAL CHOREOGRAPHY CUE]</a:t>
            </a:r>
          </a:p>
          <a:p>
            <a:r>
              <a:t>- Walk through the 4 QC tiers: Slate Automation -&gt; Spatial Alignment -&gt; Color Audit -&gt; Edge/Grain Forensics.</a:t>
            </a:r>
          </a:p>
          <a:p>
            <a:r>
              <a:t>- Emphasize zero technical rejections across 142 submissions.</a:t>
            </a:r>
          </a:p>
          <a:p/>
          <a:p>
            <a:r>
              <a:t>[NARRATIVE TRANSITION CUE]</a:t>
            </a:r>
          </a:p>
          <a:p>
            <a:r>
              <a:t>- With internal QC verified, shots progress to studio client review and conform sign-off on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focuses on Production House Liaison and Studio Delivery Sign-Off. A visual effects supervisor must not only produce exceptional imagery but also manage high-stakes client relationships with clarity and professionalism.</a:t>
            </a:r>
          </a:p>
          <a:p/>
          <a:p>
            <a:r>
              <a:t>I coordinated three major studio review cycles, presenting shot progress in cineSync and RV with synchronized side-by-side comparisons against original plates. When client notes came in, I triaged them immediately—filtering subjective feedback into clear technical instructions for our artists, which drove a 94.2% first-pass approval rate on revisions.</a:t>
            </a:r>
          </a:p>
          <a:p/>
          <a:p>
            <a:r>
              <a:t>For final delivery, I oversaw the packaging of 16-bit half-float OpenEXR sequences, including auxiliary depth and vector passes. Every package underwent automated SHA-256 checksum verification before final DI conform, culminating in 100% on-time contractual sign-off across all 142 shots.</a:t>
            </a:r>
          </a:p>
          <a:p/>
          <a:p>
            <a:r>
              <a:t>[STAGE &amp; VISUAL CHOREOGRAPHY CUE]</a:t>
            </a:r>
          </a:p>
          <a:p>
            <a:r>
              <a:t>- Detail the 3-phase delivery process: Client Presentation -&gt; Note Triage -&gt; Final Delivery/Checksum.</a:t>
            </a:r>
          </a:p>
          <a:p>
            <a:r>
              <a:t>- Highlight the 94.2% revision approval rate and 16-bit OpenEXR conform.</a:t>
            </a:r>
          </a:p>
          <a:p/>
          <a:p>
            <a:r>
              <a:t>[NARRATIVE TRANSITION CUE]</a:t>
            </a:r>
          </a:p>
          <a:p>
            <a:r>
              <a:t>- Turning now to personal technical artist execution, we examine 3D camera tracking and matchmoving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showcases my hands-on artist execution in 3D Camera Tracking and Matchmoving. As a tracking artist on this production, I solved 85 of the most challenging camera trajectories using 3DEqualizer and Nuke.</a:t>
            </a:r>
          </a:p>
          <a:p/>
          <a:p>
            <a:r>
              <a:t>The primary challenge in camera tracking is distinguishing between pure nodal pans and six-degree-of-freedom translational moves. On nodal pans where baseline parallax is near zero, standard solvers hallucinate depth; I locked translations to origin and solved pure rotational matrices, constraining the solve with our on-set LiDAR survey data.</a:t>
            </a:r>
          </a:p>
          <a:p/>
          <a:p>
            <a:r>
              <a:t>For every prime lens, I shot optical grid charts and computed 32-bit ST-Maps to model radial distortion and anamorphic squeeze. By integrating off-axis witness cameras and survey datum points, I maintained an average reprojection error below 0.40 pixels across all shots, delivering rock-solid camera paths that guaranteed perfect downstream CG integration.</a:t>
            </a:r>
          </a:p>
          <a:p/>
          <a:p>
            <a:r>
              <a:t>[STAGE &amp; VISUAL CHOREOGRAPHY CUE]</a:t>
            </a:r>
          </a:p>
          <a:p>
            <a:r>
              <a:t>- Emphasize hands-on technical execution in 3DEqualizer and Nuke.</a:t>
            </a:r>
          </a:p>
          <a:p>
            <a:r>
              <a:t>- Point out &lt;0.40px error and 85 6-DOF solves in top metric strip.</a:t>
            </a:r>
          </a:p>
          <a:p/>
          <a:p>
            <a:r>
              <a:t>[NARRATIVE TRANSITION CUE]</a:t>
            </a:r>
          </a:p>
          <a:p>
            <a:r>
              <a:t>- With camera trajectories locked, we integrate virtual environment layout plates, explored on Slide 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Virtual Backgrounds, Level Design Plates, and Environment Integration. Creating convincing digital background extensions requires combining architectural design with photographic atmospheric physics.</a:t>
            </a:r>
          </a:p>
          <a:p/>
          <a:p>
            <a:r>
              <a:t>For our 14 hero environment extensions, I modeled modular 3D proxy layouts in Unreal Engine and Maya, aligning horizon lines and perspective vanishing points to our live-action camera telemetry. We separated environments into five distinct depth planes—from near set extensions to distant sky domes.</a:t>
            </a:r>
          </a:p>
          <a:p/>
          <a:p>
            <a:r>
              <a:t>By projecting digital matte textures onto 3D proxy geometry in Nuke, we preserved natural spatial parallax during sweeping camera moves. Finally, by integrating distance-based atmospheric haze, volumetric fog passes, and lighting calibrated directly from our on-set HDRIs, we achieved seamless photographic harmony between the practical soundstage and the infinite virtual world.</a:t>
            </a:r>
          </a:p>
          <a:p/>
          <a:p>
            <a:r>
              <a:t>[STAGE &amp; VISUAL CHOREOGRAPHY CUE]</a:t>
            </a:r>
          </a:p>
          <a:p>
            <a:r>
              <a:t>- Walk through the 3 environment pillars: 3D Layout Staging -&gt; Multi-Plane Projection -&gt; Atmospheric Integration.</a:t>
            </a:r>
          </a:p>
          <a:p>
            <a:r>
              <a:t>- Highlight the 5 distinct depth planes and 100% horizon alignment.</a:t>
            </a:r>
          </a:p>
          <a:p/>
          <a:p>
            <a:r>
              <a:t>[NARRATIVE TRANSITION CUE]</a:t>
            </a:r>
          </a:p>
          <a:p>
            <a:r>
              <a:t>- Bringing together on-set leadership and studio execution, we review the production retrospective on Slide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on Slide 14, this internship has represented a comprehensive mastery of the feature film visual effects lifecycle.</a:t>
            </a:r>
          </a:p>
          <a:p/>
          <a:p>
            <a:r>
              <a:t>Across 45 shoot days and 142 feature shots, our pipeline optimizations delivered measurable operational results: a 28% reduction in on-set turnaround time, zero technical rejections at studio delivery, and over 120 artist days saved in post-production roto and clean-up.</a:t>
            </a:r>
          </a:p>
          <a:p/>
          <a:p>
            <a:r>
              <a:t>Throughout this journey, I have demonstrated end-to-end command of industry-standard toolchains—from operating terrestrial LiDAR scanners and motorized HDRI rigs on the shooting floor, to solving complex camera trajectories in 3DEqualizer, to managing multi-tier ACEScg QC in Nuke and RV.</a:t>
            </a:r>
          </a:p>
          <a:p/>
          <a:p>
            <a:r>
              <a:t>More than technical execution, this experience has solidified my ability to direct artists, protect directorial vision, and negotiate high-stakes studio deliveries under strict deadlines. I stand before this committee fully prepared, certified, and confident in my readiness to assume senior leadership responsibilities as an Assistant VFX Supervisor and Pipeline Lead on major motion pictures. Thank you, and I look forward to your questions.</a:t>
            </a:r>
          </a:p>
          <a:p/>
          <a:p>
            <a:r>
              <a:t>[STAGE &amp; VISUAL CHOREOGRAPHY CUE]</a:t>
            </a:r>
          </a:p>
          <a:p>
            <a:r>
              <a:t>- Conclude with strong visual presence; gesture across the 4 retrospective quadrants.</a:t>
            </a:r>
          </a:p>
          <a:p>
            <a:r>
              <a:t>- Final pause before inviting defense committee questions.</a:t>
            </a:r>
          </a:p>
          <a:p/>
          <a:p>
            <a:r>
              <a:t>[NARRATIVE TRANSITION CUE]</a:t>
            </a:r>
          </a:p>
          <a:p>
            <a:r>
              <a:t>- I am now open to all technical and strategic questions from the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EXECUTIVE LEADERSHIP &amp; INTERNSHIP MISSION</a:t>
            </a:r>
          </a:p>
          <a:p>
            <a:pPr>
              <a:spcAft>
                <a:spcPts val="200"/>
              </a:spcAft>
              <a:defRPr sz="2100" b="1">
                <a:solidFill>
                  <a:srgbClr val="0F172A"/>
                </a:solidFill>
                <a:latin typeface="Calibri"/>
              </a:defRPr>
            </a:pPr>
            <a:r>
              <a:t>Feature Film VFX Supervision &amp; Technical Pipeline</a:t>
            </a:r>
          </a:p>
          <a:p>
            <a:pPr>
              <a:defRPr sz="1050">
                <a:solidFill>
                  <a:srgbClr val="475569"/>
                </a:solidFill>
                <a:latin typeface="Calibri"/>
              </a:defRPr>
            </a:pPr>
            <a:r>
              <a:t>Internship Defense: Assistant VFX Supervisor, Data Acquisition Specialist &amp; 3D Tracking Artist</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01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142</a:t>
            </a:r>
          </a:p>
          <a:p>
            <a:pPr>
              <a:defRPr sz="850" b="1">
                <a:solidFill>
                  <a:srgbClr val="0F172A"/>
                </a:solidFill>
                <a:latin typeface="Calibri"/>
              </a:defRPr>
            </a:pPr>
            <a:r>
              <a:t>VFX Shots Supervised &amp; Tracked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45 Days</a:t>
            </a:r>
          </a:p>
          <a:p>
            <a:pPr>
              <a:defRPr sz="850" b="1">
                <a:solidFill>
                  <a:srgbClr val="0F172A"/>
                </a:solidFill>
                <a:latin typeface="Calibri"/>
              </a:defRPr>
            </a:pPr>
            <a:r>
              <a:t>Principal Photography across 6 Stages</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 Depts</a:t>
            </a:r>
          </a:p>
          <a:p>
            <a:pPr>
              <a:defRPr sz="850" b="1">
                <a:solidFill>
                  <a:srgbClr val="0F172A"/>
                </a:solidFill>
                <a:latin typeface="Calibri"/>
              </a:defRPr>
            </a:pPr>
            <a:r>
              <a:t>On-Set, Editorial, Matchmove &amp; Comp</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Studio Delivery Conform Sign-Off</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OPERATIONAL AUTHORITY</a:t>
            </a:r>
          </a:p>
          <a:p>
            <a:pPr>
              <a:spcAft>
                <a:spcPts val="600"/>
              </a:spcAft>
              <a:defRPr sz="1350" b="1">
                <a:solidFill>
                  <a:srgbClr val="0F172A"/>
                </a:solidFill>
                <a:latin typeface="Calibri"/>
              </a:defRPr>
            </a:pPr>
            <a:r>
              <a:t>Internship Mandate &amp; Core Responsibilities</a:t>
            </a:r>
          </a:p>
          <a:p>
            <a:pPr>
              <a:lnSpc>
                <a:spcPct val="115000"/>
              </a:lnSpc>
              <a:spcAft>
                <a:spcPts val="400"/>
              </a:spcAft>
              <a:defRPr sz="1000">
                <a:solidFill>
                  <a:srgbClr val="475569"/>
                </a:solidFill>
                <a:latin typeface="Calibri"/>
              </a:defRPr>
            </a:pPr>
            <a:r>
              <a:t>•  Executed dual operational authority: on-set technical supervision on the shooting floor and downstream technical pipeline coordination in the post-production studio.</a:t>
            </a:r>
          </a:p>
          <a:p>
            <a:pPr>
              <a:lnSpc>
                <a:spcPct val="115000"/>
              </a:lnSpc>
              <a:spcAft>
                <a:spcPts val="400"/>
              </a:spcAft>
              <a:defRPr sz="1000">
                <a:solidFill>
                  <a:srgbClr val="475569"/>
                </a:solidFill>
                <a:latin typeface="Calibri"/>
              </a:defRPr>
            </a:pPr>
            <a:r>
              <a:t>•  Supervised technical VFX compliance during principal photography, safeguarding artistic intent while enforcing budgetary and scheduling boundaries.</a:t>
            </a:r>
          </a:p>
          <a:p>
            <a:pPr>
              <a:lnSpc>
                <a:spcPct val="115000"/>
              </a:lnSpc>
              <a:spcAft>
                <a:spcPts val="400"/>
              </a:spcAft>
              <a:defRPr sz="1000">
                <a:solidFill>
                  <a:srgbClr val="475569"/>
                </a:solidFill>
                <a:latin typeface="Calibri"/>
              </a:defRPr>
            </a:pPr>
            <a:r>
              <a:t>•  Led on-set ground truth data acquisition protocols, delivering mathematically verified spatial and photometric assets to artists.</a:t>
            </a:r>
          </a:p>
          <a:p>
            <a:pPr>
              <a:lnSpc>
                <a:spcPct val="115000"/>
              </a:lnSpc>
              <a:spcAft>
                <a:spcPts val="400"/>
              </a:spcAft>
              <a:defRPr sz="1000">
                <a:solidFill>
                  <a:srgbClr val="475569"/>
                </a:solidFill>
                <a:latin typeface="Calibri"/>
              </a:defRPr>
            </a:pPr>
            <a:r>
              <a:t>•  Directed artist briefings, tracking bullpen execution, internal quality control (QC), and production house conform sign-offs.</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FEATURE METRICS</a:t>
            </a:r>
          </a:p>
          <a:p>
            <a:pPr>
              <a:spcAft>
                <a:spcPts val="600"/>
              </a:spcAft>
              <a:defRPr sz="1350" b="1">
                <a:solidFill>
                  <a:srgbClr val="0F172A"/>
                </a:solidFill>
                <a:latin typeface="Calibri"/>
              </a:defRPr>
            </a:pPr>
            <a:r>
              <a:t>Production Scale &amp; Operations Scope</a:t>
            </a:r>
          </a:p>
          <a:p>
            <a:pPr>
              <a:lnSpc>
                <a:spcPct val="115000"/>
              </a:lnSpc>
              <a:spcAft>
                <a:spcPts val="400"/>
              </a:spcAft>
              <a:defRPr sz="1000">
                <a:solidFill>
                  <a:srgbClr val="475569"/>
                </a:solidFill>
                <a:latin typeface="Calibri"/>
              </a:defRPr>
            </a:pPr>
            <a:r>
              <a:t>•  High-complexity sci-fi/fantasy feature production comprising 142 visual effects shots across 4 primary story sequences.</a:t>
            </a:r>
          </a:p>
          <a:p>
            <a:pPr>
              <a:lnSpc>
                <a:spcPct val="115000"/>
              </a:lnSpc>
              <a:spcAft>
                <a:spcPts val="400"/>
              </a:spcAft>
              <a:defRPr sz="1000">
                <a:solidFill>
                  <a:srgbClr val="475569"/>
                </a:solidFill>
                <a:latin typeface="Calibri"/>
              </a:defRPr>
            </a:pPr>
            <a:r>
              <a:t>•  Managed on-set data acquisition over 45 shooting days, logging 350+ individual camera setup sheets and lens witness records.</a:t>
            </a:r>
          </a:p>
          <a:p>
            <a:pPr>
              <a:lnSpc>
                <a:spcPct val="115000"/>
              </a:lnSpc>
              <a:spcAft>
                <a:spcPts val="400"/>
              </a:spcAft>
              <a:defRPr sz="1000">
                <a:solidFill>
                  <a:srgbClr val="475569"/>
                </a:solidFill>
                <a:latin typeface="Calibri"/>
              </a:defRPr>
            </a:pPr>
            <a:r>
              <a:t>•  Generated 48 calibrated 32-bit HDRIs, 18 terrestrial LiDAR environment scans, and 4,500+ polarized photogrammetry survey images.</a:t>
            </a:r>
          </a:p>
          <a:p>
            <a:pPr>
              <a:lnSpc>
                <a:spcPct val="115000"/>
              </a:lnSpc>
              <a:spcAft>
                <a:spcPts val="400"/>
              </a:spcAft>
              <a:defRPr sz="1000">
                <a:solidFill>
                  <a:srgbClr val="475569"/>
                </a:solidFill>
                <a:latin typeface="Calibri"/>
              </a:defRPr>
            </a:pPr>
            <a:r>
              <a:t>•  Supervised 3D tracking and matchmoving bullpen, achieving an average solve reprojection error below 0.40 pixels.</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PIPELINE BRIDGE</a:t>
            </a:r>
          </a:p>
          <a:p>
            <a:pPr>
              <a:spcAft>
                <a:spcPts val="600"/>
              </a:spcAft>
              <a:defRPr sz="1350" b="1">
                <a:solidFill>
                  <a:srgbClr val="0F172A"/>
                </a:solidFill>
                <a:latin typeface="Calibri"/>
              </a:defRPr>
            </a:pPr>
            <a:r>
              <a:t>Dual-Theater Floor-to-Studio Architecture</a:t>
            </a:r>
          </a:p>
          <a:p>
            <a:pPr>
              <a:lnSpc>
                <a:spcPct val="115000"/>
              </a:lnSpc>
              <a:spcAft>
                <a:spcPts val="400"/>
              </a:spcAft>
              <a:defRPr sz="1000">
                <a:solidFill>
                  <a:srgbClr val="475569"/>
                </a:solidFill>
                <a:latin typeface="Calibri"/>
              </a:defRPr>
            </a:pPr>
            <a:r>
              <a:t>•  Theater A (On-Set Physical Floor): Real-time directorial consultation, set extension demarcation, tracking marker grid deployment, physical laser metrology, and lighting reference capture.</a:t>
            </a:r>
          </a:p>
          <a:p>
            <a:pPr>
              <a:lnSpc>
                <a:spcPct val="115000"/>
              </a:lnSpc>
              <a:spcAft>
                <a:spcPts val="400"/>
              </a:spcAft>
              <a:defRPr sz="1000">
                <a:solidFill>
                  <a:srgbClr val="475569"/>
                </a:solidFill>
                <a:latin typeface="Calibri"/>
              </a:defRPr>
            </a:pPr>
            <a:r>
              <a:t>•  Theater B (In-Studio Digital Bullpen): Raw footage ingestion, metadata reconciliation, technical artist briefing, 3D camera trajectory solving, environment layout plate assembly, multi-tier QC, and client delivery.</a:t>
            </a:r>
          </a:p>
          <a:p>
            <a:pPr>
              <a:lnSpc>
                <a:spcPct val="115000"/>
              </a:lnSpc>
              <a:spcAft>
                <a:spcPts val="400"/>
              </a:spcAft>
              <a:defRPr sz="1000">
                <a:solidFill>
                  <a:srgbClr val="475569"/>
                </a:solidFill>
                <a:latin typeface="Calibri"/>
              </a:defRPr>
            </a:pPr>
            <a:r>
              <a:t>•  Built seamless bi-directional communication link, eliminating data loss and reducing shot turnarounds by 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ON-SET LEADERSHIP &amp; DIRECTORIAL LIAISON</a:t>
            </a:r>
          </a:p>
          <a:p>
            <a:pPr>
              <a:spcAft>
                <a:spcPts val="200"/>
              </a:spcAft>
              <a:defRPr sz="2100" b="1">
                <a:solidFill>
                  <a:srgbClr val="0F172A"/>
                </a:solidFill>
                <a:latin typeface="Calibri"/>
              </a:defRPr>
            </a:pPr>
            <a:r>
              <a:t>Directorial Consultation &amp; Creative Feasibility Architecture</a:t>
            </a:r>
          </a:p>
          <a:p>
            <a:pPr>
              <a:defRPr sz="1050">
                <a:solidFill>
                  <a:srgbClr val="475569"/>
                </a:solidFill>
                <a:latin typeface="Calibri"/>
              </a:defRPr>
            </a:pPr>
            <a:r>
              <a:t>Harmonizing Directorial Ambition, Floor Feasibility, and Shot Budgets</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02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34</a:t>
            </a:r>
          </a:p>
          <a:p>
            <a:pPr>
              <a:defRPr sz="850" b="1">
                <a:solidFill>
                  <a:srgbClr val="0F172A"/>
                </a:solidFill>
                <a:latin typeface="Calibri"/>
              </a:defRPr>
            </a:pPr>
            <a:r>
              <a:t>Directorial Consultations Conducted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12</a:t>
            </a:r>
          </a:p>
          <a:p>
            <a:pPr>
              <a:defRPr sz="850" b="1">
                <a:solidFill>
                  <a:srgbClr val="0F172A"/>
                </a:solidFill>
                <a:latin typeface="Calibri"/>
              </a:defRPr>
            </a:pPr>
            <a:r>
              <a:t>High-Risk Setups De-Risked on Floor</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28%</a:t>
            </a:r>
          </a:p>
          <a:p>
            <a:pPr>
              <a:defRPr sz="850" b="1">
                <a:solidFill>
                  <a:srgbClr val="0F172A"/>
                </a:solidFill>
                <a:latin typeface="Calibri"/>
              </a:defRPr>
            </a:pPr>
            <a:r>
              <a:t>Stage Turnaround Latency Saved</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$180K</a:t>
            </a:r>
          </a:p>
          <a:p>
            <a:pPr>
              <a:defRPr sz="850" b="1">
                <a:solidFill>
                  <a:srgbClr val="0F172A"/>
                </a:solidFill>
                <a:latin typeface="Calibri"/>
              </a:defRPr>
            </a:pPr>
            <a:r>
              <a:t>Estimated Downstream Cost Overrun Prevented</a:t>
            </a:r>
          </a:p>
        </p:txBody>
      </p:sp>
      <p:sp>
        <p:nvSpPr>
          <p:cNvPr id="9" name="Rounded Rectangle 8"/>
          <p:cNvSpPr/>
          <p:nvPr/>
        </p:nvSpPr>
        <p:spPr>
          <a:xfrm>
            <a:off x="731520" y="2395728"/>
            <a:ext cx="5204307"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CREATIVE TRIAGE</a:t>
            </a:r>
          </a:p>
          <a:p>
            <a:pPr>
              <a:spcAft>
                <a:spcPts val="600"/>
              </a:spcAft>
              <a:defRPr sz="1450" b="1">
                <a:solidFill>
                  <a:srgbClr val="0F172A"/>
                </a:solidFill>
                <a:latin typeface="Calibri"/>
              </a:defRPr>
            </a:pPr>
            <a:r>
              <a:t>Practical Floor Demarcation vs. Digital VFX Boundaries</a:t>
            </a:r>
          </a:p>
          <a:p>
            <a:pPr>
              <a:lnSpc>
                <a:spcPct val="118000"/>
              </a:lnSpc>
              <a:spcAft>
                <a:spcPts val="500"/>
              </a:spcAft>
              <a:defRPr sz="1050">
                <a:solidFill>
                  <a:srgbClr val="475569"/>
                </a:solidFill>
                <a:latin typeface="Calibri"/>
              </a:defRPr>
            </a:pPr>
            <a:r>
              <a:t>•  Established strict physical build cutoffs at the 12.5-foot elevation line, transitioning architectural set builds into digital extensions.</a:t>
            </a:r>
          </a:p>
          <a:p>
            <a:pPr>
              <a:lnSpc>
                <a:spcPct val="118000"/>
              </a:lnSpc>
              <a:spcAft>
                <a:spcPts val="500"/>
              </a:spcAft>
              <a:defRPr sz="1050">
                <a:solidFill>
                  <a:srgbClr val="475569"/>
                </a:solidFill>
                <a:latin typeface="Calibri"/>
              </a:defRPr>
            </a:pPr>
            <a:r>
              <a:t>•  Negotiated practical physical effects versus digital asset placement: retained practical dust, physical debris, and interactive spark hits on floor; allocated complex fluid simulations and structural collapse to CG.</a:t>
            </a:r>
          </a:p>
          <a:p>
            <a:pPr>
              <a:lnSpc>
                <a:spcPct val="118000"/>
              </a:lnSpc>
              <a:spcAft>
                <a:spcPts val="500"/>
              </a:spcAft>
              <a:defRPr sz="1050">
                <a:solidFill>
                  <a:srgbClr val="475569"/>
                </a:solidFill>
                <a:latin typeface="Calibri"/>
              </a:defRPr>
            </a:pPr>
            <a:r>
              <a:t>•  Verified stunt wire rigging and mechanical armatures, coordinating clean extraction zones and minimal rig occlusion against hero background sightlines.</a:t>
            </a:r>
          </a:p>
          <a:p>
            <a:pPr>
              <a:lnSpc>
                <a:spcPct val="118000"/>
              </a:lnSpc>
              <a:spcAft>
                <a:spcPts val="500"/>
              </a:spcAft>
              <a:defRPr sz="1050">
                <a:solidFill>
                  <a:srgbClr val="475569"/>
                </a:solidFill>
                <a:latin typeface="Calibri"/>
              </a:defRPr>
            </a:pPr>
            <a:r>
              <a:t>•  Calibrated interactive lighting rigs with the Gaffer, ensuring practical light sources cast real luminance onto actors to ground downstream CG integration.</a:t>
            </a:r>
          </a:p>
        </p:txBody>
      </p:sp>
      <p:sp>
        <p:nvSpPr>
          <p:cNvPr id="10" name="Rounded Rectangle 9"/>
          <p:cNvSpPr/>
          <p:nvPr/>
        </p:nvSpPr>
        <p:spPr>
          <a:xfrm>
            <a:off x="6255867" y="2395728"/>
            <a:ext cx="5204307"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STAGE EXECUTION</a:t>
            </a:r>
          </a:p>
          <a:p>
            <a:pPr>
              <a:spcAft>
                <a:spcPts val="600"/>
              </a:spcAft>
              <a:defRPr sz="1450" b="1">
                <a:solidFill>
                  <a:srgbClr val="0F172A"/>
                </a:solidFill>
                <a:latin typeface="Calibri"/>
              </a:defRPr>
            </a:pPr>
            <a:r>
              <a:t>Real-Time Floor Decision Protocol &amp; Live Triage</a:t>
            </a:r>
          </a:p>
          <a:p>
            <a:pPr>
              <a:lnSpc>
                <a:spcPct val="118000"/>
              </a:lnSpc>
              <a:spcAft>
                <a:spcPts val="500"/>
              </a:spcAft>
              <a:defRPr sz="1050">
                <a:solidFill>
                  <a:srgbClr val="475569"/>
                </a:solidFill>
                <a:latin typeface="Calibri"/>
              </a:defRPr>
            </a:pPr>
            <a:r>
              <a:t>•  Executed live camera sightline checks using mobile director viewfinders and tablet-based AR pre-viz overlays before locking camera positions.</a:t>
            </a:r>
          </a:p>
          <a:p>
            <a:pPr>
              <a:lnSpc>
                <a:spcPct val="118000"/>
              </a:lnSpc>
              <a:spcAft>
                <a:spcPts val="500"/>
              </a:spcAft>
              <a:defRPr sz="1050">
                <a:solidFill>
                  <a:srgbClr val="475569"/>
                </a:solidFill>
                <a:latin typeface="Calibri"/>
              </a:defRPr>
            </a:pPr>
            <a:r>
              <a:t>•  Mandated immediate clean plate captures and actor-free lighting reference passes directly after hero takes, preventing lost setups during stage turns.</a:t>
            </a:r>
          </a:p>
          <a:p>
            <a:pPr>
              <a:lnSpc>
                <a:spcPct val="118000"/>
              </a:lnSpc>
              <a:spcAft>
                <a:spcPts val="500"/>
              </a:spcAft>
              <a:defRPr sz="1050">
                <a:solidFill>
                  <a:srgbClr val="475569"/>
                </a:solidFill>
                <a:latin typeface="Calibri"/>
              </a:defRPr>
            </a:pPr>
            <a:r>
              <a:t>•  Rapidly adjusted camera focal length and sensor tilt recommendations on the fly to eliminate unwanted soundstage lighting grid intrusion.</a:t>
            </a:r>
          </a:p>
          <a:p>
            <a:pPr>
              <a:lnSpc>
                <a:spcPct val="118000"/>
              </a:lnSpc>
              <a:spcAft>
                <a:spcPts val="500"/>
              </a:spcAft>
              <a:defRPr sz="1050">
                <a:solidFill>
                  <a:srgbClr val="475569"/>
                </a:solidFill>
                <a:latin typeface="Calibri"/>
              </a:defRPr>
            </a:pPr>
            <a:r>
              <a:t>•  Logged creative shot changes instantly into the on-set tracking database, alerting the editorial bullpen before dailies wrapped.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SPATIAL LAYOUT &amp; ENVIRONMENT ARCHITECTURE</a:t>
            </a:r>
          </a:p>
          <a:p>
            <a:pPr>
              <a:spcAft>
                <a:spcPts val="200"/>
              </a:spcAft>
              <a:defRPr sz="2100" b="1">
                <a:solidFill>
                  <a:srgbClr val="0F172A"/>
                </a:solidFill>
                <a:latin typeface="Calibri"/>
              </a:defRPr>
            </a:pPr>
            <a:r>
              <a:t>Set Extension Planning &amp; Visual Sightline Geometry</a:t>
            </a:r>
          </a:p>
          <a:p>
            <a:pPr>
              <a:defRPr sz="1050">
                <a:solidFill>
                  <a:srgbClr val="475569"/>
                </a:solidFill>
                <a:latin typeface="Calibri"/>
              </a:defRPr>
            </a:pPr>
            <a:r>
              <a:t>Harmonizing Physical Architecture, Frustum Coverage, and Virtual Expansions</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03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6 Stages</a:t>
            </a:r>
          </a:p>
          <a:p>
            <a:pPr>
              <a:defRPr sz="850" b="1">
                <a:solidFill>
                  <a:srgbClr val="0F172A"/>
                </a:solidFill>
                <a:latin typeface="Calibri"/>
              </a:defRPr>
            </a:pPr>
            <a:r>
              <a:t>Soundstage Environments Extended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12.5 m</a:t>
            </a:r>
          </a:p>
          <a:p>
            <a:pPr>
              <a:defRPr sz="850" b="1">
                <a:solidFill>
                  <a:srgbClr val="0F172A"/>
                </a:solidFill>
                <a:latin typeface="Calibri"/>
              </a:defRPr>
            </a:pPr>
            <a:r>
              <a:t>Physical-to-Virtual Seam Elevation</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180°</a:t>
            </a:r>
          </a:p>
          <a:p>
            <a:pPr>
              <a:defRPr sz="850" b="1">
                <a:solidFill>
                  <a:srgbClr val="0F172A"/>
                </a:solidFill>
                <a:latin typeface="Calibri"/>
              </a:defRPr>
            </a:pPr>
            <a:r>
              <a:t>Panoramic Chroma-Key Coverage</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Zero</a:t>
            </a:r>
          </a:p>
          <a:p>
            <a:pPr>
              <a:defRPr sz="850" b="1">
                <a:solidFill>
                  <a:srgbClr val="0F172A"/>
                </a:solidFill>
                <a:latin typeface="Calibri"/>
              </a:defRPr>
            </a:pPr>
            <a:r>
              <a:t>Unplanned Frustum Edge Incursions</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OPTICAL MAPPING</a:t>
            </a:r>
          </a:p>
          <a:p>
            <a:pPr>
              <a:spcAft>
                <a:spcPts val="600"/>
              </a:spcAft>
              <a:defRPr sz="1350" b="1">
                <a:solidFill>
                  <a:srgbClr val="0F172A"/>
                </a:solidFill>
                <a:latin typeface="Calibri"/>
              </a:defRPr>
            </a:pPr>
            <a:r>
              <a:t>Camera Frustum Analysis &amp; Lens Coverage</a:t>
            </a:r>
          </a:p>
          <a:p>
            <a:pPr>
              <a:lnSpc>
                <a:spcPct val="115000"/>
              </a:lnSpc>
              <a:spcAft>
                <a:spcPts val="400"/>
              </a:spcAft>
              <a:defRPr sz="1000">
                <a:solidFill>
                  <a:srgbClr val="475569"/>
                </a:solidFill>
                <a:latin typeface="Calibri"/>
              </a:defRPr>
            </a:pPr>
            <a:r>
              <a:t>•  Calculated optical frustum cones for hero prime lenses (24mm, 35mm, 50mm, 85mm) on Full-Frame 35.7 x 23.8 mm camera sensors.</a:t>
            </a:r>
          </a:p>
          <a:p>
            <a:pPr>
              <a:lnSpc>
                <a:spcPct val="115000"/>
              </a:lnSpc>
              <a:spcAft>
                <a:spcPts val="400"/>
              </a:spcAft>
              <a:defRPr sz="1000">
                <a:solidFill>
                  <a:srgbClr val="475569"/>
                </a:solidFill>
                <a:latin typeface="Calibri"/>
              </a:defRPr>
            </a:pPr>
            <a:r>
              <a:t>•  Mapped maximum pan and tilt envelopes for Technocrane and Steadicam moves to ensure physical blue/green screens fully enclosed the camera frustum.</a:t>
            </a:r>
          </a:p>
          <a:p>
            <a:pPr>
              <a:lnSpc>
                <a:spcPct val="115000"/>
              </a:lnSpc>
              <a:spcAft>
                <a:spcPts val="400"/>
              </a:spcAft>
              <a:defRPr sz="1000">
                <a:solidFill>
                  <a:srgbClr val="475569"/>
                </a:solidFill>
                <a:latin typeface="Calibri"/>
              </a:defRPr>
            </a:pPr>
            <a:r>
              <a:t>•  Established safety margins of +15% screen over-coverage beyond calculated frustum boundaries to accommodate spontaneous handheld camera reframing.</a:t>
            </a:r>
          </a:p>
          <a:p>
            <a:pPr>
              <a:lnSpc>
                <a:spcPct val="115000"/>
              </a:lnSpc>
              <a:spcAft>
                <a:spcPts val="400"/>
              </a:spcAft>
              <a:defRPr sz="1000">
                <a:solidFill>
                  <a:srgbClr val="475569"/>
                </a:solidFill>
                <a:latin typeface="Calibri"/>
              </a:defRPr>
            </a:pPr>
            <a:r>
              <a:t>•  Designed sightline projection cones in Maya prior to call time, delivering exact physical placement dimensions to the Key Grip and Rigging crew.</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STAGE PROTOCOL</a:t>
            </a:r>
          </a:p>
          <a:p>
            <a:pPr>
              <a:spcAft>
                <a:spcPts val="600"/>
              </a:spcAft>
              <a:defRPr sz="1350" b="1">
                <a:solidFill>
                  <a:srgbClr val="0F172A"/>
                </a:solidFill>
                <a:latin typeface="Calibri"/>
              </a:defRPr>
            </a:pPr>
            <a:r>
              <a:t>Chroma-Key Rigging &amp; Spill Suppression</a:t>
            </a:r>
          </a:p>
          <a:p>
            <a:pPr>
              <a:lnSpc>
                <a:spcPct val="115000"/>
              </a:lnSpc>
              <a:spcAft>
                <a:spcPts val="400"/>
              </a:spcAft>
              <a:defRPr sz="1000">
                <a:solidFill>
                  <a:srgbClr val="475569"/>
                </a:solidFill>
                <a:latin typeface="Calibri"/>
              </a:defRPr>
            </a:pPr>
            <a:r>
              <a:t>•  Enforced selection criteria: Blue screens chosen for night exterior scenes and warm skin tones; Green screens for daylight interiors with dark costumes.</a:t>
            </a:r>
          </a:p>
          <a:p>
            <a:pPr>
              <a:lnSpc>
                <a:spcPct val="115000"/>
              </a:lnSpc>
              <a:spcAft>
                <a:spcPts val="400"/>
              </a:spcAft>
              <a:defRPr sz="1000">
                <a:solidFill>
                  <a:srgbClr val="475569"/>
                </a:solidFill>
                <a:latin typeface="Calibri"/>
              </a:defRPr>
            </a:pPr>
            <a:r>
              <a:t>•  Mandated minimum 4.5-meter actor-to-screen separation distance to eliminate high-frequency chroma spill on hair and wardrobe edges.</a:t>
            </a:r>
          </a:p>
          <a:p>
            <a:pPr>
              <a:lnSpc>
                <a:spcPct val="115000"/>
              </a:lnSpc>
              <a:spcAft>
                <a:spcPts val="400"/>
              </a:spcAft>
              <a:defRPr sz="1000">
                <a:solidFill>
                  <a:srgbClr val="475569"/>
                </a:solidFill>
                <a:latin typeface="Calibri"/>
              </a:defRPr>
            </a:pPr>
            <a:r>
              <a:t>•  Calibrated chroma screen illumination to exactly 1.0 stop below key subject exposure, guaranteeing pure hue saturation without contaminating subject shadows.</a:t>
            </a:r>
          </a:p>
          <a:p>
            <a:pPr>
              <a:lnSpc>
                <a:spcPct val="115000"/>
              </a:lnSpc>
              <a:spcAft>
                <a:spcPts val="400"/>
              </a:spcAft>
              <a:defRPr sz="1000">
                <a:solidFill>
                  <a:srgbClr val="475569"/>
                </a:solidFill>
                <a:latin typeface="Calibri"/>
              </a:defRPr>
            </a:pPr>
            <a:r>
              <a:t>•  Implemented black solid bounce teasers along stage perimeters to absorb floor bounce and preserve true optical shadow density.</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SEAM GEOMETRY</a:t>
            </a:r>
          </a:p>
          <a:p>
            <a:pPr>
              <a:spcAft>
                <a:spcPts val="600"/>
              </a:spcAft>
              <a:defRPr sz="1350" b="1">
                <a:solidFill>
                  <a:srgbClr val="0F172A"/>
                </a:solidFill>
                <a:latin typeface="Calibri"/>
              </a:defRPr>
            </a:pPr>
            <a:r>
              <a:t>Architectural Seam Alignment &amp; Locking</a:t>
            </a:r>
          </a:p>
          <a:p>
            <a:pPr>
              <a:lnSpc>
                <a:spcPct val="115000"/>
              </a:lnSpc>
              <a:spcAft>
                <a:spcPts val="400"/>
              </a:spcAft>
              <a:defRPr sz="1000">
                <a:solidFill>
                  <a:srgbClr val="475569"/>
                </a:solidFill>
                <a:latin typeface="Calibri"/>
              </a:defRPr>
            </a:pPr>
            <a:r>
              <a:t>•  Established physical reference datum lines along cornices, architectural pillars, and wall copings to serve as physical-to-digital junction anchors.</a:t>
            </a:r>
          </a:p>
          <a:p>
            <a:pPr>
              <a:lnSpc>
                <a:spcPct val="115000"/>
              </a:lnSpc>
              <a:spcAft>
                <a:spcPts val="400"/>
              </a:spcAft>
              <a:defRPr sz="1000">
                <a:solidFill>
                  <a:srgbClr val="475569"/>
                </a:solidFill>
                <a:latin typeface="Calibri"/>
              </a:defRPr>
            </a:pPr>
            <a:r>
              <a:t>•  Installed mechanical registration targets along physical set boundaries to verify geometric alignment in 3D camera projections.</a:t>
            </a:r>
          </a:p>
          <a:p>
            <a:pPr>
              <a:lnSpc>
                <a:spcPct val="115000"/>
              </a:lnSpc>
              <a:spcAft>
                <a:spcPts val="400"/>
              </a:spcAft>
              <a:defRPr sz="1000">
                <a:solidFill>
                  <a:srgbClr val="475569"/>
                </a:solidFill>
                <a:latin typeface="Calibri"/>
              </a:defRPr>
            </a:pPr>
            <a:r>
              <a:t>•  Supervised physical paint and texture blending along top edges to guarantee seamless material transition into digital asset lookdev.</a:t>
            </a:r>
          </a:p>
          <a:p>
            <a:pPr>
              <a:lnSpc>
                <a:spcPct val="115000"/>
              </a:lnSpc>
              <a:spcAft>
                <a:spcPts val="400"/>
              </a:spcAft>
              <a:defRPr sz="1000">
                <a:solidFill>
                  <a:srgbClr val="475569"/>
                </a:solidFill>
                <a:latin typeface="Calibri"/>
              </a:defRPr>
            </a:pPr>
            <a:r>
              <a:t>•  Provided matchmove artists with sub-millimeter measured coordinates for every transition junction point.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CAMERA MATCHMOVE &amp; SPATIAL ANCHORS</a:t>
            </a:r>
          </a:p>
          <a:p>
            <a:pPr>
              <a:spcAft>
                <a:spcPts val="200"/>
              </a:spcAft>
              <a:defRPr sz="2100" b="1">
                <a:solidFill>
                  <a:srgbClr val="0F172A"/>
                </a:solidFill>
                <a:latin typeface="Calibri"/>
              </a:defRPr>
            </a:pPr>
            <a:r>
              <a:t>Tracking Marker Distribution Strategy &amp; Placement Rigor</a:t>
            </a:r>
          </a:p>
          <a:p>
            <a:pPr>
              <a:defRPr sz="1050">
                <a:solidFill>
                  <a:srgbClr val="475569"/>
                </a:solidFill>
                <a:latin typeface="Calibri"/>
              </a:defRPr>
            </a:pPr>
            <a:r>
              <a:t>Engineered Parallax, Multi-Plane Grids, and Roto-Friendly Deployment</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04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1,200+</a:t>
            </a:r>
          </a:p>
          <a:p>
            <a:pPr>
              <a:defRPr sz="850" b="1">
                <a:solidFill>
                  <a:srgbClr val="0F172A"/>
                </a:solidFill>
                <a:latin typeface="Calibri"/>
              </a:defRPr>
            </a:pPr>
            <a:r>
              <a:t>Calibrated Markers Deployed on Stages</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3 Tiers</a:t>
            </a:r>
          </a:p>
          <a:p>
            <a:pPr>
              <a:defRPr sz="850" b="1">
                <a:solidFill>
                  <a:srgbClr val="0F172A"/>
                </a:solidFill>
                <a:latin typeface="Calibri"/>
              </a:defRPr>
            </a:pPr>
            <a:r>
              <a:t>Depth Planes Maintained per Setup</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&lt;0.35 px</a:t>
            </a:r>
          </a:p>
          <a:p>
            <a:pPr>
              <a:defRPr sz="850" b="1">
                <a:solidFill>
                  <a:srgbClr val="0F172A"/>
                </a:solidFill>
                <a:latin typeface="Calibri"/>
              </a:defRPr>
            </a:pPr>
            <a:r>
              <a:t>Matchmove Solve Consistency</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Zero Markers in Critical Face/Hair Zones</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TARGET DESIGN</a:t>
            </a:r>
          </a:p>
          <a:p>
            <a:pPr>
              <a:spcAft>
                <a:spcPts val="600"/>
              </a:spcAft>
              <a:defRPr sz="1350" b="1">
                <a:solidFill>
                  <a:srgbClr val="0F172A"/>
                </a:solidFill>
                <a:latin typeface="Calibri"/>
              </a:defRPr>
            </a:pPr>
            <a:r>
              <a:t>Marker Typology &amp; Contrast Engineering</a:t>
            </a:r>
          </a:p>
          <a:p>
            <a:pPr>
              <a:lnSpc>
                <a:spcPct val="115000"/>
              </a:lnSpc>
              <a:spcAft>
                <a:spcPts val="400"/>
              </a:spcAft>
              <a:defRPr sz="1000">
                <a:solidFill>
                  <a:srgbClr val="475569"/>
                </a:solidFill>
                <a:latin typeface="Calibri"/>
              </a:defRPr>
            </a:pPr>
            <a:r>
              <a:t>•  Engineered 4 distinct marker types: High-contrast 100mm crosshairs for wide lenses; 50mm fluorescent dots for low-light setups; retro-reflective spherical markers for robotic crane rigs; micro-dots for props.</a:t>
            </a:r>
          </a:p>
          <a:p>
            <a:pPr>
              <a:lnSpc>
                <a:spcPct val="115000"/>
              </a:lnSpc>
              <a:spcAft>
                <a:spcPts val="400"/>
              </a:spcAft>
              <a:defRPr sz="1000">
                <a:solidFill>
                  <a:srgbClr val="475569"/>
                </a:solidFill>
                <a:latin typeface="Calibri"/>
              </a:defRPr>
            </a:pPr>
            <a:r>
              <a:t>•  Selected marker adhesive substrates based on wall finishes: matte gaffer tape for painted flats, magnetic markers for steel truss beams, low-tack vinyl for scenic wallpaper.</a:t>
            </a:r>
          </a:p>
          <a:p>
            <a:pPr>
              <a:lnSpc>
                <a:spcPct val="115000"/>
              </a:lnSpc>
              <a:spcAft>
                <a:spcPts val="400"/>
              </a:spcAft>
              <a:defRPr sz="1000">
                <a:solidFill>
                  <a:srgbClr val="475569"/>
                </a:solidFill>
                <a:latin typeface="Calibri"/>
              </a:defRPr>
            </a:pPr>
            <a:r>
              <a:t>•  Calibrated marker contrast to yield a 30% luminance delta against backing screens—sufficient for 2D auto-tracking kernels while avoiding hard edge bleed.</a:t>
            </a:r>
          </a:p>
          <a:p>
            <a:pPr>
              <a:lnSpc>
                <a:spcPct val="115000"/>
              </a:lnSpc>
              <a:spcAft>
                <a:spcPts val="400"/>
              </a:spcAft>
              <a:defRPr sz="1000">
                <a:solidFill>
                  <a:srgbClr val="475569"/>
                </a:solidFill>
                <a:latin typeface="Calibri"/>
              </a:defRPr>
            </a:pPr>
            <a:r>
              <a:t>•  Standardized asymmetrical marker patterns to eliminate rotational solve ambiguity during rapid camera pans and whip moves.</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SOLVE STABILITY</a:t>
            </a:r>
          </a:p>
          <a:p>
            <a:pPr>
              <a:spcAft>
                <a:spcPts val="600"/>
              </a:spcAft>
              <a:defRPr sz="1350" b="1">
                <a:solidFill>
                  <a:srgbClr val="0F172A"/>
                </a:solidFill>
                <a:latin typeface="Calibri"/>
              </a:defRPr>
            </a:pPr>
            <a:r>
              <a:t>Multi-Plane Depth Distribution &amp; Parallax</a:t>
            </a:r>
          </a:p>
          <a:p>
            <a:pPr>
              <a:lnSpc>
                <a:spcPct val="115000"/>
              </a:lnSpc>
              <a:spcAft>
                <a:spcPts val="400"/>
              </a:spcAft>
              <a:defRPr sz="1000">
                <a:solidFill>
                  <a:srgbClr val="475569"/>
                </a:solidFill>
                <a:latin typeface="Calibri"/>
              </a:defRPr>
            </a:pPr>
            <a:r>
              <a:t>•  Distributed markers across three discrete depth tiers: Foreground set dressing (2–4m), Midground boundary structures (6–10m), and Background screens (12–25m).</a:t>
            </a:r>
          </a:p>
          <a:p>
            <a:pPr>
              <a:lnSpc>
                <a:spcPct val="115000"/>
              </a:lnSpc>
              <a:spcAft>
                <a:spcPts val="400"/>
              </a:spcAft>
              <a:defRPr sz="1000">
                <a:solidFill>
                  <a:srgbClr val="475569"/>
                </a:solidFill>
                <a:latin typeface="Calibri"/>
              </a:defRPr>
            </a:pPr>
            <a:r>
              <a:t>•  Prevented planar degenerate solves by ensuring tracking point clouds formed non-coplanar, 3D triangular volumes rather than flat 2D arrays.</a:t>
            </a:r>
          </a:p>
          <a:p>
            <a:pPr>
              <a:lnSpc>
                <a:spcPct val="115000"/>
              </a:lnSpc>
              <a:spcAft>
                <a:spcPts val="400"/>
              </a:spcAft>
              <a:defRPr sz="1000">
                <a:solidFill>
                  <a:srgbClr val="475569"/>
                </a:solidFill>
                <a:latin typeface="Calibri"/>
              </a:defRPr>
            </a:pPr>
            <a:r>
              <a:t>•  Placed vertical offset rods with high-contrast spheres along screen perimeters to provide vertical parallax during pure horizontal tracking dolly shots.</a:t>
            </a:r>
          </a:p>
          <a:p>
            <a:pPr>
              <a:lnSpc>
                <a:spcPct val="115000"/>
              </a:lnSpc>
              <a:spcAft>
                <a:spcPts val="400"/>
              </a:spcAft>
              <a:defRPr sz="1000">
                <a:solidFill>
                  <a:srgbClr val="475569"/>
                </a:solidFill>
                <a:latin typeface="Calibri"/>
              </a:defRPr>
            </a:pPr>
            <a:r>
              <a:t>•  Verified that any single camera frame contained a minimum of 12 un-occluded tracking points across at least two distinct depth planes.</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ROTO HYGIENE</a:t>
            </a:r>
          </a:p>
          <a:p>
            <a:pPr>
              <a:spcAft>
                <a:spcPts val="600"/>
              </a:spcAft>
              <a:defRPr sz="1350" b="1">
                <a:solidFill>
                  <a:srgbClr val="0F172A"/>
                </a:solidFill>
                <a:latin typeface="Calibri"/>
              </a:defRPr>
            </a:pPr>
            <a:r>
              <a:t>Paint-Out Mitigation &amp; Roto Optimization</a:t>
            </a:r>
          </a:p>
          <a:p>
            <a:pPr>
              <a:lnSpc>
                <a:spcPct val="115000"/>
              </a:lnSpc>
              <a:spcAft>
                <a:spcPts val="400"/>
              </a:spcAft>
              <a:defRPr sz="1000">
                <a:solidFill>
                  <a:srgbClr val="475569"/>
                </a:solidFill>
                <a:latin typeface="Calibri"/>
              </a:defRPr>
            </a:pPr>
            <a:r>
              <a:t>•  Enforced a strict actor movement exclusion zone: zero tracking markers placed within 1.5 meters of planned hero actor trajectories.</a:t>
            </a:r>
          </a:p>
          <a:p>
            <a:pPr>
              <a:lnSpc>
                <a:spcPct val="115000"/>
              </a:lnSpc>
              <a:spcAft>
                <a:spcPts val="400"/>
              </a:spcAft>
              <a:defRPr sz="1000">
                <a:solidFill>
                  <a:srgbClr val="475569"/>
                </a:solidFill>
                <a:latin typeface="Calibri"/>
              </a:defRPr>
            </a:pPr>
            <a:r>
              <a:t>•  Positioned backdrop markers strictly outside high-frequency hair detail silhouettes and fine costume translucent elements.</a:t>
            </a:r>
          </a:p>
          <a:p>
            <a:pPr>
              <a:lnSpc>
                <a:spcPct val="115000"/>
              </a:lnSpc>
              <a:spcAft>
                <a:spcPts val="400"/>
              </a:spcAft>
              <a:defRPr sz="1000">
                <a:solidFill>
                  <a:srgbClr val="475569"/>
                </a:solidFill>
                <a:latin typeface="Calibri"/>
              </a:defRPr>
            </a:pPr>
            <a:r>
              <a:t>•  Utilized chroma-matched blue/green self-adhesive markers whose hue matched screen backings, enabling automatic despill extraction and procedural clean plate generation.</a:t>
            </a:r>
          </a:p>
          <a:p>
            <a:pPr>
              <a:lnSpc>
                <a:spcPct val="115000"/>
              </a:lnSpc>
              <a:spcAft>
                <a:spcPts val="400"/>
              </a:spcAft>
              <a:defRPr sz="1000">
                <a:solidFill>
                  <a:srgbClr val="475569"/>
                </a:solidFill>
                <a:latin typeface="Calibri"/>
              </a:defRPr>
            </a:pPr>
            <a:r>
              <a:t>•  Documented marker coordinates on stage schematics, providing matchmove and paint artists with instant 2D point identification maps.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ON-SET METROLOGY &amp; PHYSICAL LOGGING</a:t>
            </a:r>
          </a:p>
          <a:p>
            <a:pPr>
              <a:spcAft>
                <a:spcPts val="200"/>
              </a:spcAft>
              <a:defRPr sz="2100" b="1">
                <a:solidFill>
                  <a:srgbClr val="0F172A"/>
                </a:solidFill>
                <a:latin typeface="Calibri"/>
              </a:defRPr>
            </a:pPr>
            <a:r>
              <a:t>Ground Truth Spatial Data Acquisition &amp; Set Survey</a:t>
            </a:r>
          </a:p>
          <a:p>
            <a:pPr>
              <a:defRPr sz="1050">
                <a:solidFill>
                  <a:srgbClr val="475569"/>
                </a:solidFill>
                <a:latin typeface="Calibri"/>
              </a:defRPr>
            </a:pPr>
            <a:r>
              <a:t>Precision Metrology, Camera Telemetry, and Standardized Setup Slating</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05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0.5 mm</a:t>
            </a:r>
          </a:p>
          <a:p>
            <a:pPr>
              <a:defRPr sz="850" b="1">
                <a:solidFill>
                  <a:srgbClr val="0F172A"/>
                </a:solidFill>
                <a:latin typeface="Calibri"/>
              </a:defRPr>
            </a:pPr>
            <a:r>
              <a:t>Laser Metrology Measurement Tolerance</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350+</a:t>
            </a:r>
          </a:p>
          <a:p>
            <a:pPr>
              <a:defRPr sz="850" b="1">
                <a:solidFill>
                  <a:srgbClr val="0F172A"/>
                </a:solidFill>
                <a:latin typeface="Calibri"/>
              </a:defRPr>
            </a:pPr>
            <a:r>
              <a:t>Comprehensive Setup Sheets Verified</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Sensor Height, Tilt &amp; Roll Captured</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2 Units</a:t>
            </a:r>
          </a:p>
          <a:p>
            <a:pPr>
              <a:defRPr sz="850" b="1">
                <a:solidFill>
                  <a:srgbClr val="0F172A"/>
                </a:solidFill>
                <a:latin typeface="Calibri"/>
              </a:defRPr>
            </a:pPr>
            <a:r>
              <a:t>Synchronized 45° Witness Cameras</a:t>
            </a:r>
          </a:p>
        </p:txBody>
      </p:sp>
      <p:sp>
        <p:nvSpPr>
          <p:cNvPr id="9" name="Rounded Rectangle 8"/>
          <p:cNvSpPr/>
          <p:nvPr/>
        </p:nvSpPr>
        <p:spPr>
          <a:xfrm>
            <a:off x="731520" y="239572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OPTICAL DATUM</a:t>
            </a:r>
          </a:p>
          <a:p>
            <a:pPr>
              <a:spcAft>
                <a:spcPts val="600"/>
              </a:spcAft>
              <a:defRPr sz="1250" b="1">
                <a:solidFill>
                  <a:srgbClr val="0F172A"/>
                </a:solidFill>
                <a:latin typeface="Calibri"/>
              </a:defRPr>
            </a:pPr>
            <a:r>
              <a:t>Camera Optical Telemetry &amp; Calibration</a:t>
            </a:r>
          </a:p>
          <a:p>
            <a:pPr>
              <a:lnSpc>
                <a:spcPct val="112000"/>
              </a:lnSpc>
              <a:spcAft>
                <a:spcPts val="200"/>
              </a:spcAft>
              <a:defRPr sz="919">
                <a:solidFill>
                  <a:srgbClr val="475569"/>
                </a:solidFill>
                <a:latin typeface="Calibri"/>
              </a:defRPr>
            </a:pPr>
            <a:r>
              <a:t>•  Recorded exact camera optical center height from finished floor level using precision laser levels.</a:t>
            </a:r>
          </a:p>
          <a:p>
            <a:pPr>
              <a:lnSpc>
                <a:spcPct val="112000"/>
              </a:lnSpc>
              <a:spcAft>
                <a:spcPts val="200"/>
              </a:spcAft>
              <a:defRPr sz="919">
                <a:solidFill>
                  <a:srgbClr val="475569"/>
                </a:solidFill>
                <a:latin typeface="Calibri"/>
              </a:defRPr>
            </a:pPr>
            <a:r>
              <a:t>•  Measured pitch, roll, and optical axis tilt per setup using digital electronic inclinometers accurate to 0.1°.</a:t>
            </a:r>
          </a:p>
          <a:p>
            <a:pPr>
              <a:lnSpc>
                <a:spcPct val="112000"/>
              </a:lnSpc>
              <a:spcAft>
                <a:spcPts val="200"/>
              </a:spcAft>
              <a:defRPr sz="919">
                <a:solidFill>
                  <a:srgbClr val="475569"/>
                </a:solidFill>
                <a:latin typeface="Calibri"/>
              </a:defRPr>
            </a:pPr>
            <a:r>
              <a:t>•  Logged lens serial number, focal length, focus distance witness marks, and T-stop aperture directly from wireless follow-focus telemetry.</a:t>
            </a:r>
          </a:p>
          <a:p>
            <a:pPr>
              <a:lnSpc>
                <a:spcPct val="112000"/>
              </a:lnSpc>
              <a:spcAft>
                <a:spcPts val="200"/>
              </a:spcAft>
              <a:defRPr sz="919">
                <a:solidFill>
                  <a:srgbClr val="475569"/>
                </a:solidFill>
                <a:latin typeface="Calibri"/>
              </a:defRPr>
            </a:pPr>
            <a:r>
              <a:t>•  Documented entrance pupil / nodal point offsets from the sensor plane datum for every prime lens in the package.</a:t>
            </a:r>
          </a:p>
        </p:txBody>
      </p:sp>
      <p:sp>
        <p:nvSpPr>
          <p:cNvPr id="10" name="Rounded Rectangle 9"/>
          <p:cNvSpPr/>
          <p:nvPr/>
        </p:nvSpPr>
        <p:spPr>
          <a:xfrm>
            <a:off x="6255867" y="239572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STAGE SURVEY</a:t>
            </a:r>
          </a:p>
          <a:p>
            <a:pPr>
              <a:spcAft>
                <a:spcPts val="600"/>
              </a:spcAft>
              <a:defRPr sz="1250" b="1">
                <a:solidFill>
                  <a:srgbClr val="0F172A"/>
                </a:solidFill>
                <a:latin typeface="Calibri"/>
              </a:defRPr>
            </a:pPr>
            <a:r>
              <a:t>Physical Set Metrology &amp; Triangulation</a:t>
            </a:r>
          </a:p>
          <a:p>
            <a:pPr>
              <a:lnSpc>
                <a:spcPct val="112000"/>
              </a:lnSpc>
              <a:spcAft>
                <a:spcPts val="200"/>
              </a:spcAft>
              <a:defRPr sz="919">
                <a:solidFill>
                  <a:srgbClr val="475569"/>
                </a:solidFill>
                <a:latin typeface="Calibri"/>
              </a:defRPr>
            </a:pPr>
            <a:r>
              <a:t>•  Executed laser distance triangulation from film plane to actor hero marks and set corners using Leica DISTO D510 meters.</a:t>
            </a:r>
          </a:p>
          <a:p>
            <a:pPr>
              <a:lnSpc>
                <a:spcPct val="112000"/>
              </a:lnSpc>
              <a:spcAft>
                <a:spcPts val="200"/>
              </a:spcAft>
              <a:defRPr sz="919">
                <a:solidFill>
                  <a:srgbClr val="475569"/>
                </a:solidFill>
                <a:latin typeface="Calibri"/>
              </a:defRPr>
            </a:pPr>
            <a:r>
              <a:t>•  Measured tracker-to-tracker baseline distances across all major soundstage walls to establish absolute millimeter scale constraints.</a:t>
            </a:r>
          </a:p>
          <a:p>
            <a:pPr>
              <a:lnSpc>
                <a:spcPct val="112000"/>
              </a:lnSpc>
              <a:spcAft>
                <a:spcPts val="200"/>
              </a:spcAft>
              <a:defRPr sz="919">
                <a:solidFill>
                  <a:srgbClr val="475569"/>
                </a:solidFill>
                <a:latin typeface="Calibri"/>
              </a:defRPr>
            </a:pPr>
            <a:r>
              <a:t>•  Established permanent stage zero-datum benchmarks (World Origin 0,0,0) tied to soundstage architectural survey monuments.</a:t>
            </a:r>
          </a:p>
          <a:p>
            <a:pPr>
              <a:lnSpc>
                <a:spcPct val="112000"/>
              </a:lnSpc>
              <a:spcAft>
                <a:spcPts val="200"/>
              </a:spcAft>
              <a:defRPr sz="919">
                <a:solidFill>
                  <a:srgbClr val="475569"/>
                </a:solidFill>
                <a:latin typeface="Calibri"/>
              </a:defRPr>
            </a:pPr>
            <a:r>
              <a:t>•  Generated physical floor dimension sketches attached directly to daily camera setup logs.</a:t>
            </a:r>
          </a:p>
        </p:txBody>
      </p:sp>
      <p:sp>
        <p:nvSpPr>
          <p:cNvPr id="11" name="Rounded Rectangle 10"/>
          <p:cNvSpPr/>
          <p:nvPr/>
        </p:nvSpPr>
        <p:spPr>
          <a:xfrm>
            <a:off x="731520" y="449884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WITNESS RIGS</a:t>
            </a:r>
          </a:p>
          <a:p>
            <a:pPr>
              <a:spcAft>
                <a:spcPts val="600"/>
              </a:spcAft>
              <a:defRPr sz="1250" b="1">
                <a:solidFill>
                  <a:srgbClr val="0F172A"/>
                </a:solidFill>
                <a:latin typeface="Calibri"/>
              </a:defRPr>
            </a:pPr>
            <a:r>
              <a:t>Dual Off-Axis Witness Camera Sync</a:t>
            </a:r>
          </a:p>
          <a:p>
            <a:pPr>
              <a:lnSpc>
                <a:spcPct val="112000"/>
              </a:lnSpc>
              <a:spcAft>
                <a:spcPts val="200"/>
              </a:spcAft>
              <a:defRPr sz="919">
                <a:solidFill>
                  <a:srgbClr val="475569"/>
                </a:solidFill>
                <a:latin typeface="Calibri"/>
              </a:defRPr>
            </a:pPr>
            <a:r>
              <a:t>•  Deployed two synchronized high-framerate witness cameras locked at 45° off-axis to the hero camera line.</a:t>
            </a:r>
          </a:p>
          <a:p>
            <a:pPr>
              <a:lnSpc>
                <a:spcPct val="112000"/>
              </a:lnSpc>
              <a:spcAft>
                <a:spcPts val="200"/>
              </a:spcAft>
              <a:defRPr sz="919">
                <a:solidFill>
                  <a:srgbClr val="475569"/>
                </a:solidFill>
                <a:latin typeface="Calibri"/>
              </a:defRPr>
            </a:pPr>
            <a:r>
              <a:t>•  Captured full actor spatial trajectory, boom operator movements, and off-frustum set dressing interactions.</a:t>
            </a:r>
          </a:p>
          <a:p>
            <a:pPr>
              <a:lnSpc>
                <a:spcPct val="112000"/>
              </a:lnSpc>
              <a:spcAft>
                <a:spcPts val="200"/>
              </a:spcAft>
              <a:defRPr sz="919">
                <a:solidFill>
                  <a:srgbClr val="475569"/>
                </a:solidFill>
                <a:latin typeface="Calibri"/>
              </a:defRPr>
            </a:pPr>
            <a:r>
              <a:t>•  Jam-synced witness camera timecode to hero camera master SMPTE timecode generators via ambient lockit boxes.</a:t>
            </a:r>
          </a:p>
          <a:p>
            <a:pPr>
              <a:lnSpc>
                <a:spcPct val="112000"/>
              </a:lnSpc>
              <a:spcAft>
                <a:spcPts val="200"/>
              </a:spcAft>
              <a:defRPr sz="919">
                <a:solidFill>
                  <a:srgbClr val="475569"/>
                </a:solidFill>
                <a:latin typeface="Calibri"/>
              </a:defRPr>
            </a:pPr>
            <a:r>
              <a:t>•  Delivered synchronized multi-angle reference video directly to matchmove artists to resolve depth ambiguity in low-parallax shots.</a:t>
            </a:r>
          </a:p>
        </p:txBody>
      </p:sp>
      <p:sp>
        <p:nvSpPr>
          <p:cNvPr id="12" name="Rounded Rectangle 11"/>
          <p:cNvSpPr/>
          <p:nvPr/>
        </p:nvSpPr>
        <p:spPr>
          <a:xfrm>
            <a:off x="6255867" y="449884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INGEST SYNC</a:t>
            </a:r>
          </a:p>
          <a:p>
            <a:pPr>
              <a:spcAft>
                <a:spcPts val="600"/>
              </a:spcAft>
              <a:defRPr sz="1250" b="1">
                <a:solidFill>
                  <a:srgbClr val="0F172A"/>
                </a:solidFill>
                <a:latin typeface="Calibri"/>
              </a:defRPr>
            </a:pPr>
            <a:r>
              <a:t>Standardized VFX Slating &amp; Metadata</a:t>
            </a:r>
          </a:p>
          <a:p>
            <a:pPr>
              <a:lnSpc>
                <a:spcPct val="112000"/>
              </a:lnSpc>
              <a:spcAft>
                <a:spcPts val="200"/>
              </a:spcAft>
              <a:defRPr sz="919">
                <a:solidFill>
                  <a:srgbClr val="475569"/>
                </a:solidFill>
                <a:latin typeface="Calibri"/>
              </a:defRPr>
            </a:pPr>
            <a:r>
              <a:t>•  Designed and executed standardized VFX tail-slates and head-slates with dedicated fields for lens, focal length, height, tilt, and scene/take.</a:t>
            </a:r>
          </a:p>
          <a:p>
            <a:pPr>
              <a:lnSpc>
                <a:spcPct val="112000"/>
              </a:lnSpc>
              <a:spcAft>
                <a:spcPts val="200"/>
              </a:spcAft>
              <a:defRPr sz="919">
                <a:solidFill>
                  <a:srgbClr val="475569"/>
                </a:solidFill>
                <a:latin typeface="Calibri"/>
              </a:defRPr>
            </a:pPr>
            <a:r>
              <a:t>•  Implemented a color-coded physical slating workflow for clean plates, lighting passes, and witness takes.</a:t>
            </a:r>
          </a:p>
          <a:p>
            <a:pPr>
              <a:lnSpc>
                <a:spcPct val="112000"/>
              </a:lnSpc>
              <a:spcAft>
                <a:spcPts val="200"/>
              </a:spcAft>
              <a:defRPr sz="919">
                <a:solidFill>
                  <a:srgbClr val="475569"/>
                </a:solidFill>
                <a:latin typeface="Calibri"/>
              </a:defRPr>
            </a:pPr>
            <a:r>
              <a:t>•  Cross-verified physical paper logs with digital DIT sound roll and camera RAW metadata files at each card turn.</a:t>
            </a:r>
          </a:p>
          <a:p>
            <a:pPr>
              <a:lnSpc>
                <a:spcPct val="112000"/>
              </a:lnSpc>
              <a:spcAft>
                <a:spcPts val="200"/>
              </a:spcAft>
              <a:defRPr sz="919">
                <a:solidFill>
                  <a:srgbClr val="475569"/>
                </a:solidFill>
                <a:latin typeface="Calibri"/>
              </a:defRPr>
            </a:pPr>
            <a:r>
              <a:t>•  Uploaded verified CSV setup logs to ShotGrid within two hours of principal photography wrap each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ON-SET LIGHTING &amp; LOOKDEV</a:t>
            </a:r>
          </a:p>
          <a:p>
            <a:pPr>
              <a:spcAft>
                <a:spcPts val="200"/>
              </a:spcAft>
              <a:defRPr sz="2100" b="1">
                <a:solidFill>
                  <a:srgbClr val="0F172A"/>
                </a:solidFill>
                <a:latin typeface="Calibri"/>
              </a:defRPr>
            </a:pPr>
            <a:r>
              <a:t>On-Set Lighting Capture &amp; Photometric Reference</a:t>
            </a:r>
          </a:p>
          <a:p>
            <a:pPr>
              <a:defRPr sz="1050">
                <a:solidFill>
                  <a:srgbClr val="475569"/>
                </a:solidFill>
                <a:latin typeface="Calibri"/>
              </a:defRPr>
            </a:pPr>
            <a:r>
              <a:t>High-Dynamic-Range 360° Spheres, Ball Passes, and ACEScg Calibrations</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06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48 Maps</a:t>
            </a:r>
          </a:p>
          <a:p>
            <a:pPr>
              <a:defRPr sz="850" b="1">
                <a:solidFill>
                  <a:srgbClr val="0F172A"/>
                </a:solidFill>
                <a:latin typeface="Calibri"/>
              </a:defRPr>
            </a:pPr>
            <a:r>
              <a:t>32-bit Floating-Point 360° HDRIs</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14+ EV</a:t>
            </a:r>
          </a:p>
          <a:p>
            <a:pPr>
              <a:defRPr sz="850" b="1">
                <a:solidFill>
                  <a:srgbClr val="0F172A"/>
                </a:solidFill>
                <a:latin typeface="Calibri"/>
              </a:defRPr>
            </a:pPr>
            <a:r>
              <a:t>Dynamic Range per Bracketed Panorama</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2 Balls</a:t>
            </a:r>
          </a:p>
          <a:p>
            <a:pPr>
              <a:defRPr sz="850" b="1">
                <a:solidFill>
                  <a:srgbClr val="0F172A"/>
                </a:solidFill>
                <a:latin typeface="Calibri"/>
              </a:defRPr>
            </a:pPr>
            <a:r>
              <a:t>12-Inch Chrome &amp; 18% Grey Balls Shot</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ACEScg</a:t>
            </a:r>
          </a:p>
          <a:p>
            <a:pPr>
              <a:defRPr sz="850" b="1">
                <a:solidFill>
                  <a:srgbClr val="0F172A"/>
                </a:solidFill>
                <a:latin typeface="Calibri"/>
              </a:defRPr>
            </a:pPr>
            <a:r>
              <a:t>Working Color Space Integration</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LUMINANCE RECONSTRUCTION</a:t>
            </a:r>
          </a:p>
          <a:p>
            <a:pPr>
              <a:spcAft>
                <a:spcPts val="600"/>
              </a:spcAft>
              <a:defRPr sz="1350" b="1">
                <a:solidFill>
                  <a:srgbClr val="0F172A"/>
                </a:solidFill>
                <a:latin typeface="Calibri"/>
              </a:defRPr>
            </a:pPr>
            <a:r>
              <a:t>Multi-Bracket 360° HDRI Acquisition</a:t>
            </a:r>
          </a:p>
          <a:p>
            <a:pPr>
              <a:lnSpc>
                <a:spcPct val="115000"/>
              </a:lnSpc>
              <a:spcAft>
                <a:spcPts val="400"/>
              </a:spcAft>
              <a:defRPr sz="1000">
                <a:solidFill>
                  <a:srgbClr val="475569"/>
                </a:solidFill>
                <a:latin typeface="Calibri"/>
              </a:defRPr>
            </a:pPr>
            <a:r>
              <a:t>•  Captured 7 exposures at 2-EV step increments using a calibrated Sony A7R IV with a 12mm full-frame fisheye on a motorized nodal head.</a:t>
            </a:r>
          </a:p>
          <a:p>
            <a:pPr>
              <a:lnSpc>
                <a:spcPct val="115000"/>
              </a:lnSpc>
              <a:spcAft>
                <a:spcPts val="400"/>
              </a:spcAft>
              <a:defRPr sz="1000">
                <a:solidFill>
                  <a:srgbClr val="475569"/>
                </a:solidFill>
                <a:latin typeface="Calibri"/>
              </a:defRPr>
            </a:pPr>
            <a:r>
              <a:t>•  Achieved an exposure dynamic range exceeding 14 EV, capturing the brightest practical lighting filaments without clipping.</a:t>
            </a:r>
          </a:p>
          <a:p>
            <a:pPr>
              <a:lnSpc>
                <a:spcPct val="115000"/>
              </a:lnSpc>
              <a:spcAft>
                <a:spcPts val="400"/>
              </a:spcAft>
              <a:defRPr sz="1000">
                <a:solidFill>
                  <a:srgbClr val="475569"/>
                </a:solidFill>
                <a:latin typeface="Calibri"/>
              </a:defRPr>
            </a:pPr>
            <a:r>
              <a:t>•  Assembled raw brackets into 32-bit floating-point .exr equirectangular latlong maps using PTGui Pro with vignetting profiles pre-applied.</a:t>
            </a:r>
          </a:p>
          <a:p>
            <a:pPr>
              <a:lnSpc>
                <a:spcPct val="115000"/>
              </a:lnSpc>
              <a:spcAft>
                <a:spcPts val="400"/>
              </a:spcAft>
              <a:defRPr sz="1000">
                <a:solidFill>
                  <a:srgbClr val="475569"/>
                </a:solidFill>
                <a:latin typeface="Calibri"/>
              </a:defRPr>
            </a:pPr>
            <a:r>
              <a:t>•  Logged exact physical tripod GPS/stage coordinates and elevation matching the hero camera position.</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SHADING VERIFICATION</a:t>
            </a:r>
          </a:p>
          <a:p>
            <a:pPr>
              <a:spcAft>
                <a:spcPts val="600"/>
              </a:spcAft>
              <a:defRPr sz="1350" b="1">
                <a:solidFill>
                  <a:srgbClr val="0F172A"/>
                </a:solidFill>
                <a:latin typeface="Calibri"/>
              </a:defRPr>
            </a:pPr>
            <a:r>
              <a:t>Chrome &amp; 18% Grey Reference Balls</a:t>
            </a:r>
          </a:p>
          <a:p>
            <a:pPr>
              <a:lnSpc>
                <a:spcPct val="115000"/>
              </a:lnSpc>
              <a:spcAft>
                <a:spcPts val="400"/>
              </a:spcAft>
              <a:defRPr sz="1000">
                <a:solidFill>
                  <a:srgbClr val="475569"/>
                </a:solidFill>
                <a:latin typeface="Calibri"/>
              </a:defRPr>
            </a:pPr>
            <a:r>
              <a:t>•  Captured dedicated reference ball passes at hero actor eye-line directly following the director's call of 'cut'.</a:t>
            </a:r>
          </a:p>
          <a:p>
            <a:pPr>
              <a:lnSpc>
                <a:spcPct val="115000"/>
              </a:lnSpc>
              <a:spcAft>
                <a:spcPts val="400"/>
              </a:spcAft>
              <a:defRPr sz="1000">
                <a:solidFill>
                  <a:srgbClr val="475569"/>
                </a:solidFill>
                <a:latin typeface="Calibri"/>
              </a:defRPr>
            </a:pPr>
            <a:r>
              <a:t>•  18% neutral grey ball utilized to calibrate diffuse light directionality, key-to-fill light ratios, and ambient environmental bounce.</a:t>
            </a:r>
          </a:p>
          <a:p>
            <a:pPr>
              <a:lnSpc>
                <a:spcPct val="115000"/>
              </a:lnSpc>
              <a:spcAft>
                <a:spcPts val="400"/>
              </a:spcAft>
              <a:defRPr sz="1000">
                <a:solidFill>
                  <a:srgbClr val="475569"/>
                </a:solidFill>
                <a:latin typeface="Calibri"/>
              </a:defRPr>
            </a:pPr>
            <a:r>
              <a:t>•  Mirror chrome ball utilized to verify specular highlight position, light source shape, and sharp shadow caster locations.</a:t>
            </a:r>
          </a:p>
          <a:p>
            <a:pPr>
              <a:lnSpc>
                <a:spcPct val="115000"/>
              </a:lnSpc>
              <a:spcAft>
                <a:spcPts val="400"/>
              </a:spcAft>
              <a:defRPr sz="1000">
                <a:solidFill>
                  <a:srgbClr val="475569"/>
                </a:solidFill>
                <a:latin typeface="Calibri"/>
              </a:defRPr>
            </a:pPr>
            <a:r>
              <a:t>•  Cleaned and inspected calibration spheres between takes to prevent dust or smudge artifacts from degrading lookdev reflection maps.</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COLOR MANAGEMENT</a:t>
            </a:r>
          </a:p>
          <a:p>
            <a:pPr>
              <a:spcAft>
                <a:spcPts val="600"/>
              </a:spcAft>
              <a:defRPr sz="1350" b="1">
                <a:solidFill>
                  <a:srgbClr val="0F172A"/>
                </a:solidFill>
                <a:latin typeface="Calibri"/>
              </a:defRPr>
            </a:pPr>
            <a:r>
              <a:t>Colorimetric Rigor &amp; ACEScg Pipeline</a:t>
            </a:r>
          </a:p>
          <a:p>
            <a:pPr>
              <a:lnSpc>
                <a:spcPct val="115000"/>
              </a:lnSpc>
              <a:spcAft>
                <a:spcPts val="400"/>
              </a:spcAft>
              <a:defRPr sz="1000">
                <a:solidFill>
                  <a:srgbClr val="475569"/>
                </a:solidFill>
                <a:latin typeface="Calibri"/>
              </a:defRPr>
            </a:pPr>
            <a:r>
              <a:t>•  Exposed X-Rite ColorChecker Classic charts under primary key, fill, and practical lighting conditions.</a:t>
            </a:r>
          </a:p>
          <a:p>
            <a:pPr>
              <a:lnSpc>
                <a:spcPct val="115000"/>
              </a:lnSpc>
              <a:spcAft>
                <a:spcPts val="400"/>
              </a:spcAft>
              <a:defRPr sz="1000">
                <a:solidFill>
                  <a:srgbClr val="475569"/>
                </a:solidFill>
                <a:latin typeface="Calibri"/>
              </a:defRPr>
            </a:pPr>
            <a:r>
              <a:t>•  Extracted native camera raw RGB values and normalized them through ACES Input Device Transforms (IDT) to linear ACEScg working color space.</a:t>
            </a:r>
          </a:p>
          <a:p>
            <a:pPr>
              <a:lnSpc>
                <a:spcPct val="115000"/>
              </a:lnSpc>
              <a:spcAft>
                <a:spcPts val="400"/>
              </a:spcAft>
              <a:defRPr sz="1000">
                <a:solidFill>
                  <a:srgbClr val="475569"/>
                </a:solidFill>
                <a:latin typeface="Calibri"/>
              </a:defRPr>
            </a:pPr>
            <a:r>
              <a:t>•  Verified neutral patch #22 (18% reflectance, 0.18 linear value) across digital lookdev turntables in Maya and Houdini.</a:t>
            </a:r>
          </a:p>
          <a:p>
            <a:pPr>
              <a:lnSpc>
                <a:spcPct val="115000"/>
              </a:lnSpc>
              <a:spcAft>
                <a:spcPts val="400"/>
              </a:spcAft>
              <a:defRPr sz="1000">
                <a:solidFill>
                  <a:srgbClr val="475569"/>
                </a:solidFill>
                <a:latin typeface="Calibri"/>
              </a:defRPr>
            </a:pPr>
            <a:r>
              <a:t>•  Packaged matched photometric light rigs (HDRI dome light + directional area lights) ready for instant artist deployment in Katana/Arnold/Karma.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METROLOGY &amp; 3D RECONSTRUCTION</a:t>
            </a:r>
          </a:p>
          <a:p>
            <a:pPr>
              <a:spcAft>
                <a:spcPts val="200"/>
              </a:spcAft>
              <a:defRPr sz="2100" b="1">
                <a:solidFill>
                  <a:srgbClr val="0F172A"/>
                </a:solidFill>
                <a:latin typeface="Calibri"/>
              </a:defRPr>
            </a:pPr>
            <a:r>
              <a:t>3D Set Scanning, LiDAR &amp; Photogrammetry Pipelines</a:t>
            </a:r>
          </a:p>
          <a:p>
            <a:pPr>
              <a:defRPr sz="1050">
                <a:solidFill>
                  <a:srgbClr val="475569"/>
                </a:solidFill>
                <a:latin typeface="Calibri"/>
              </a:defRPr>
            </a:pPr>
            <a:r>
              <a:t>Dense Spatial Geometry Acquisition for Matchmove, Occlusion, and Projection</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07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18 Sets</a:t>
            </a:r>
          </a:p>
          <a:p>
            <a:pPr>
              <a:defRPr sz="850" b="1">
                <a:solidFill>
                  <a:srgbClr val="0F172A"/>
                </a:solidFill>
                <a:latin typeface="Calibri"/>
              </a:defRPr>
            </a:pPr>
            <a:r>
              <a:t>Soundstages &amp; Locations LiDAR Scanned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4,500+</a:t>
            </a:r>
          </a:p>
          <a:p>
            <a:pPr>
              <a:defRPr sz="850" b="1">
                <a:solidFill>
                  <a:srgbClr val="0F172A"/>
                </a:solidFill>
                <a:latin typeface="Calibri"/>
              </a:defRPr>
            </a:pPr>
            <a:r>
              <a:t>Cross-Polarized Survey Photos</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&lt;2.0 mm</a:t>
            </a:r>
          </a:p>
          <a:p>
            <a:pPr>
              <a:defRPr sz="850" b="1">
                <a:solidFill>
                  <a:srgbClr val="0F172A"/>
                </a:solidFill>
                <a:latin typeface="Calibri"/>
              </a:defRPr>
            </a:pPr>
            <a:r>
              <a:t>Multi-Station ICP Registration Error</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Watertight Collision &amp; Holdout Proxies</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SPATIAL CLOUD</a:t>
            </a:r>
          </a:p>
          <a:p>
            <a:pPr>
              <a:spcAft>
                <a:spcPts val="600"/>
              </a:spcAft>
              <a:defRPr sz="1350" b="1">
                <a:solidFill>
                  <a:srgbClr val="0F172A"/>
                </a:solidFill>
                <a:latin typeface="Calibri"/>
              </a:defRPr>
            </a:pPr>
            <a:r>
              <a:t>Terrestrial LiDAR &amp; Point Cloud Registration</a:t>
            </a:r>
          </a:p>
          <a:p>
            <a:pPr>
              <a:lnSpc>
                <a:spcPct val="115000"/>
              </a:lnSpc>
              <a:spcAft>
                <a:spcPts val="400"/>
              </a:spcAft>
              <a:defRPr sz="1000">
                <a:solidFill>
                  <a:srgbClr val="475569"/>
                </a:solidFill>
                <a:latin typeface="Calibri"/>
              </a:defRPr>
            </a:pPr>
            <a:r>
              <a:t>•  Deployed Faro Focus S350 and Leica RTC360 terrestrial laser scanners to capture dense millimeter-accurate point clouds of all physical sets.</a:t>
            </a:r>
          </a:p>
          <a:p>
            <a:pPr>
              <a:lnSpc>
                <a:spcPct val="115000"/>
              </a:lnSpc>
              <a:spcAft>
                <a:spcPts val="400"/>
              </a:spcAft>
              <a:defRPr sz="1000">
                <a:solidFill>
                  <a:srgbClr val="475569"/>
                </a:solidFill>
                <a:latin typeface="Calibri"/>
              </a:defRPr>
            </a:pPr>
            <a:r>
              <a:t>•  Positioned physical survey target spheres and checkerboard targets across stages to tie multiple scan stations into a unified coordinate system.</a:t>
            </a:r>
          </a:p>
          <a:p>
            <a:pPr>
              <a:lnSpc>
                <a:spcPct val="115000"/>
              </a:lnSpc>
              <a:spcAft>
                <a:spcPts val="400"/>
              </a:spcAft>
              <a:defRPr sz="1000">
                <a:solidFill>
                  <a:srgbClr val="475569"/>
                </a:solidFill>
                <a:latin typeface="Calibri"/>
              </a:defRPr>
            </a:pPr>
            <a:r>
              <a:t>•  Achieved a global multi-station registration mean error of less than 2.0 millimeters across 18 distinct set locations.</a:t>
            </a:r>
          </a:p>
          <a:p>
            <a:pPr>
              <a:lnSpc>
                <a:spcPct val="115000"/>
              </a:lnSpc>
              <a:spcAft>
                <a:spcPts val="400"/>
              </a:spcAft>
              <a:defRPr sz="1000">
                <a:solidFill>
                  <a:srgbClr val="475569"/>
                </a:solidFill>
                <a:latin typeface="Calibri"/>
              </a:defRPr>
            </a:pPr>
            <a:r>
              <a:t>•  Filtered dynamic noise (crew members, moving equipment, transient reflections) in Leica Cyclone and CloudCompare, exporting unified E57 archives.</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DIFFUSE ALBEDO</a:t>
            </a:r>
          </a:p>
          <a:p>
            <a:pPr>
              <a:spcAft>
                <a:spcPts val="600"/>
              </a:spcAft>
              <a:defRPr sz="1350" b="1">
                <a:solidFill>
                  <a:srgbClr val="0F172A"/>
                </a:solidFill>
                <a:latin typeface="Calibri"/>
              </a:defRPr>
            </a:pPr>
            <a:r>
              <a:t>Cross-Polarized DSLR Photogrammetry</a:t>
            </a:r>
          </a:p>
          <a:p>
            <a:pPr>
              <a:lnSpc>
                <a:spcPct val="115000"/>
              </a:lnSpc>
              <a:spcAft>
                <a:spcPts val="400"/>
              </a:spcAft>
              <a:defRPr sz="1000">
                <a:solidFill>
                  <a:srgbClr val="475569"/>
                </a:solidFill>
                <a:latin typeface="Calibri"/>
              </a:defRPr>
            </a:pPr>
            <a:r>
              <a:t>•  Executed high-density photogrammetric image passes using a 61MP Sony A7R IV with linear polarizing lens filters paired with cross-polarized ring flashes.</a:t>
            </a:r>
          </a:p>
          <a:p>
            <a:pPr>
              <a:lnSpc>
                <a:spcPct val="115000"/>
              </a:lnSpc>
              <a:spcAft>
                <a:spcPts val="400"/>
              </a:spcAft>
              <a:defRPr sz="1000">
                <a:solidFill>
                  <a:srgbClr val="475569"/>
                </a:solidFill>
                <a:latin typeface="Calibri"/>
              </a:defRPr>
            </a:pPr>
            <a:r>
              <a:t>•  Completely eliminated specular highlights on shiny set props, capturing pure diffuse albedo surface textures.</a:t>
            </a:r>
          </a:p>
          <a:p>
            <a:pPr>
              <a:lnSpc>
                <a:spcPct val="115000"/>
              </a:lnSpc>
              <a:spcAft>
                <a:spcPts val="400"/>
              </a:spcAft>
              <a:defRPr sz="1000">
                <a:solidFill>
                  <a:srgbClr val="475569"/>
                </a:solidFill>
                <a:latin typeface="Calibri"/>
              </a:defRPr>
            </a:pPr>
            <a:r>
              <a:t>•  Reconstructed high-resolution textured 3D assets in RealityCapture, solving complex organic props, detailed set dressings, and textured rock faces.</a:t>
            </a:r>
          </a:p>
          <a:p>
            <a:pPr>
              <a:lnSpc>
                <a:spcPct val="115000"/>
              </a:lnSpc>
              <a:spcAft>
                <a:spcPts val="400"/>
              </a:spcAft>
              <a:defRPr sz="1000">
                <a:solidFill>
                  <a:srgbClr val="475569"/>
                </a:solidFill>
                <a:latin typeface="Calibri"/>
              </a:defRPr>
            </a:pPr>
            <a:r>
              <a:t>•  Scaled photogrammetry reconstructions against laser survey baseline measurements to guarantee 1:1 metric scale precision.</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DCC ASSETS</a:t>
            </a:r>
          </a:p>
          <a:p>
            <a:pPr>
              <a:spcAft>
                <a:spcPts val="600"/>
              </a:spcAft>
              <a:defRPr sz="1350" b="1">
                <a:solidFill>
                  <a:srgbClr val="0F172A"/>
                </a:solidFill>
                <a:latin typeface="Calibri"/>
              </a:defRPr>
            </a:pPr>
            <a:r>
              <a:t>Mesh Retopology &amp; Occlusion Proxies</a:t>
            </a:r>
          </a:p>
          <a:p>
            <a:pPr>
              <a:lnSpc>
                <a:spcPct val="115000"/>
              </a:lnSpc>
              <a:spcAft>
                <a:spcPts val="400"/>
              </a:spcAft>
              <a:defRPr sz="1000">
                <a:solidFill>
                  <a:srgbClr val="475569"/>
                </a:solidFill>
                <a:latin typeface="Calibri"/>
              </a:defRPr>
            </a:pPr>
            <a:r>
              <a:t>•  Converted raw 80-million point clouds into lightweight, quad-dominant proxy meshes in Houdini and Maya.</a:t>
            </a:r>
          </a:p>
          <a:p>
            <a:pPr>
              <a:lnSpc>
                <a:spcPct val="115000"/>
              </a:lnSpc>
              <a:spcAft>
                <a:spcPts val="400"/>
              </a:spcAft>
              <a:defRPr sz="1000">
                <a:solidFill>
                  <a:srgbClr val="475569"/>
                </a:solidFill>
                <a:latin typeface="Calibri"/>
              </a:defRPr>
            </a:pPr>
            <a:r>
              <a:t>•  Authored watertight collision hulls and accurate shadow-catcher geometry for dynamic CG rigid-body simulations and character interactions.</a:t>
            </a:r>
          </a:p>
          <a:p>
            <a:pPr>
              <a:lnSpc>
                <a:spcPct val="115000"/>
              </a:lnSpc>
              <a:spcAft>
                <a:spcPts val="400"/>
              </a:spcAft>
              <a:defRPr sz="1000">
                <a:solidFill>
                  <a:srgbClr val="475569"/>
                </a:solidFill>
                <a:latin typeface="Calibri"/>
              </a:defRPr>
            </a:pPr>
            <a:r>
              <a:t>•  Structured hierarchical Alembic (.abc) and USD (.usd) geometry assets, categorized by stage and sequence name.</a:t>
            </a:r>
          </a:p>
          <a:p>
            <a:pPr>
              <a:lnSpc>
                <a:spcPct val="115000"/>
              </a:lnSpc>
              <a:spcAft>
                <a:spcPts val="400"/>
              </a:spcAft>
              <a:defRPr sz="1000">
                <a:solidFill>
                  <a:srgbClr val="475569"/>
                </a:solidFill>
                <a:latin typeface="Calibri"/>
              </a:defRPr>
            </a:pPr>
            <a:r>
              <a:t>•  Provided matchmove artists with instant 3D survey alignment geometry, allowing immediate camera solve verification via wireframe overlays.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EDITORIAL PIPELINE &amp; INGEST</a:t>
            </a:r>
          </a:p>
          <a:p>
            <a:pPr>
              <a:spcAft>
                <a:spcPts val="200"/>
              </a:spcAft>
              <a:defRPr sz="2100" b="1">
                <a:solidFill>
                  <a:srgbClr val="0F172A"/>
                </a:solidFill>
                <a:latin typeface="Calibri"/>
              </a:defRPr>
            </a:pPr>
            <a:r>
              <a:t>Footage Intake, Rushes Ingest &amp; Editorial Synchronization</a:t>
            </a:r>
          </a:p>
          <a:p>
            <a:pPr>
              <a:defRPr sz="1050">
                <a:solidFill>
                  <a:srgbClr val="475569"/>
                </a:solidFill>
                <a:latin typeface="Calibri"/>
              </a:defRPr>
            </a:pPr>
            <a:r>
              <a:t>Structuring Raw Rushes, Plate Taxonomy, and Shot Change Order (SCO) Tracking</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08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420+ Takes</a:t>
            </a:r>
          </a:p>
          <a:p>
            <a:pPr>
              <a:defRPr sz="850" b="1">
                <a:solidFill>
                  <a:srgbClr val="0F172A"/>
                </a:solidFill>
                <a:latin typeface="Calibri"/>
              </a:defRPr>
            </a:pPr>
            <a:r>
              <a:t>Ingested, Verified &amp; Tracked in ShotGrid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 Types</a:t>
            </a:r>
          </a:p>
          <a:p>
            <a:pPr>
              <a:defRPr sz="850" b="1">
                <a:solidFill>
                  <a:srgbClr val="0F172A"/>
                </a:solidFill>
                <a:latin typeface="Calibri"/>
              </a:defRPr>
            </a:pPr>
            <a:r>
              <a:t>Standardized Plate Typology Packages</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+8 Frames</a:t>
            </a:r>
          </a:p>
          <a:p>
            <a:pPr>
              <a:defRPr sz="850" b="1">
                <a:solidFill>
                  <a:srgbClr val="0F172A"/>
                </a:solidFill>
                <a:latin typeface="Calibri"/>
              </a:defRPr>
            </a:pPr>
            <a:r>
              <a:t>Head &amp; Tail Safety Handles Maintained</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Zero</a:t>
            </a:r>
          </a:p>
          <a:p>
            <a:pPr>
              <a:defRPr sz="850" b="1">
                <a:solidFill>
                  <a:srgbClr val="0F172A"/>
                </a:solidFill>
                <a:latin typeface="Calibri"/>
              </a:defRPr>
            </a:pPr>
            <a:r>
              <a:t>Editorial Conform / FPS Slips</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CHECKSUM VERIFICATION</a:t>
            </a:r>
          </a:p>
          <a:p>
            <a:pPr>
              <a:spcAft>
                <a:spcPts val="600"/>
              </a:spcAft>
              <a:defRPr sz="1350" b="1">
                <a:solidFill>
                  <a:srgbClr val="0F172A"/>
                </a:solidFill>
                <a:latin typeface="Calibri"/>
              </a:defRPr>
            </a:pPr>
            <a:r>
              <a:t>Raw Rushes Ingestion &amp; Metadata Audit</a:t>
            </a:r>
          </a:p>
          <a:p>
            <a:pPr>
              <a:lnSpc>
                <a:spcPct val="115000"/>
              </a:lnSpc>
              <a:spcAft>
                <a:spcPts val="400"/>
              </a:spcAft>
              <a:defRPr sz="1000">
                <a:solidFill>
                  <a:srgbClr val="475569"/>
                </a:solidFill>
                <a:latin typeface="Calibri"/>
              </a:defRPr>
            </a:pPr>
            <a:r>
              <a:t>•  Ingested native ARRIRAW and RED R3D sensor files directly from digital imaging technician (DIT) delivery drives into the studio SAN/NAS infrastructure.</a:t>
            </a:r>
          </a:p>
          <a:p>
            <a:pPr>
              <a:lnSpc>
                <a:spcPct val="115000"/>
              </a:lnSpc>
              <a:spcAft>
                <a:spcPts val="400"/>
              </a:spcAft>
              <a:defRPr sz="1000">
                <a:solidFill>
                  <a:srgbClr val="475569"/>
                </a:solidFill>
                <a:latin typeface="Calibri"/>
              </a:defRPr>
            </a:pPr>
            <a:r>
              <a:t>•  Ran automated Python checksum validation (MD5 / xxHash64) on all ingested camera clips to guarantee 100% bitstream file integrity.</a:t>
            </a:r>
          </a:p>
          <a:p>
            <a:pPr>
              <a:lnSpc>
                <a:spcPct val="115000"/>
              </a:lnSpc>
              <a:spcAft>
                <a:spcPts val="400"/>
              </a:spcAft>
              <a:defRPr sz="1000">
                <a:solidFill>
                  <a:srgbClr val="475569"/>
                </a:solidFill>
                <a:latin typeface="Calibri"/>
              </a:defRPr>
            </a:pPr>
            <a:r>
              <a:t>•  Cross-referenced embedded camera metadata (clip reel, timecode, sensor FPS 24.00, shutter angle 180°, focal length) against physical camera sheets.</a:t>
            </a:r>
          </a:p>
          <a:p>
            <a:pPr>
              <a:lnSpc>
                <a:spcPct val="115000"/>
              </a:lnSpc>
              <a:spcAft>
                <a:spcPts val="400"/>
              </a:spcAft>
              <a:defRPr sz="1000">
                <a:solidFill>
                  <a:srgbClr val="475569"/>
                </a:solidFill>
                <a:latin typeface="Calibri"/>
              </a:defRPr>
            </a:pPr>
            <a:r>
              <a:t>•  Flagged and resolved 14 metadata discrepancies on the floor before files entered the downstream production pipeline.</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ASSET STRUCTURING</a:t>
            </a:r>
          </a:p>
          <a:p>
            <a:pPr>
              <a:spcAft>
                <a:spcPts val="600"/>
              </a:spcAft>
              <a:defRPr sz="1350" b="1">
                <a:solidFill>
                  <a:srgbClr val="0F172A"/>
                </a:solidFill>
                <a:latin typeface="Calibri"/>
              </a:defRPr>
            </a:pPr>
            <a:r>
              <a:t>Plate Taxonomy &amp; Package Architecture</a:t>
            </a:r>
          </a:p>
          <a:p>
            <a:pPr>
              <a:lnSpc>
                <a:spcPct val="115000"/>
              </a:lnSpc>
              <a:spcAft>
                <a:spcPts val="400"/>
              </a:spcAft>
              <a:defRPr sz="1000">
                <a:solidFill>
                  <a:srgbClr val="475569"/>
                </a:solidFill>
                <a:latin typeface="Calibri"/>
              </a:defRPr>
            </a:pPr>
            <a:r>
              <a:t>•  Established a strict 4-tier plate naming taxonomy in ShotGrid: Hero Plates (_hero), Clean Background Plates (_clean), Lighting/Reference Passes (_ref), and Witness Passes (_wit).</a:t>
            </a:r>
          </a:p>
          <a:p>
            <a:pPr>
              <a:lnSpc>
                <a:spcPct val="115000"/>
              </a:lnSpc>
              <a:spcAft>
                <a:spcPts val="400"/>
              </a:spcAft>
              <a:defRPr sz="1000">
                <a:solidFill>
                  <a:srgbClr val="475569"/>
                </a:solidFill>
                <a:latin typeface="Calibri"/>
              </a:defRPr>
            </a:pPr>
            <a:r>
              <a:t>•  Extracted 16-bit half-float linear OpenEXR sequences in ACEScg with embedded timecode and frame metadata.</a:t>
            </a:r>
          </a:p>
          <a:p>
            <a:pPr>
              <a:lnSpc>
                <a:spcPct val="115000"/>
              </a:lnSpc>
              <a:spcAft>
                <a:spcPts val="400"/>
              </a:spcAft>
              <a:defRPr sz="1000">
                <a:solidFill>
                  <a:srgbClr val="475569"/>
                </a:solidFill>
                <a:latin typeface="Calibri"/>
              </a:defRPr>
            </a:pPr>
            <a:r>
              <a:t>•  Enforced standardized directory hierarchies: /show/seq/shot/plates/bg01/ with exact padding and frame numbering.</a:t>
            </a:r>
          </a:p>
          <a:p>
            <a:pPr>
              <a:lnSpc>
                <a:spcPct val="115000"/>
              </a:lnSpc>
              <a:spcAft>
                <a:spcPts val="400"/>
              </a:spcAft>
              <a:defRPr sz="1000">
                <a:solidFill>
                  <a:srgbClr val="475569"/>
                </a:solidFill>
                <a:latin typeface="Calibri"/>
              </a:defRPr>
            </a:pPr>
            <a:r>
              <a:t>•  Authored automated ShotGrid ingest scripts that linked ingested plates directly to corresponding 3D survey data and HDRI light rigs.</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SCO GOVERNANCE</a:t>
            </a:r>
          </a:p>
          <a:p>
            <a:pPr>
              <a:spcAft>
                <a:spcPts val="600"/>
              </a:spcAft>
              <a:defRPr sz="1350" b="1">
                <a:solidFill>
                  <a:srgbClr val="0F172A"/>
                </a:solidFill>
                <a:latin typeface="Calibri"/>
              </a:defRPr>
            </a:pPr>
            <a:r>
              <a:t>Editorial Conform &amp; Shot Change Orders</a:t>
            </a:r>
          </a:p>
          <a:p>
            <a:pPr>
              <a:lnSpc>
                <a:spcPct val="115000"/>
              </a:lnSpc>
              <a:spcAft>
                <a:spcPts val="400"/>
              </a:spcAft>
              <a:defRPr sz="1000">
                <a:solidFill>
                  <a:srgbClr val="475569"/>
                </a:solidFill>
                <a:latin typeface="Calibri"/>
              </a:defRPr>
            </a:pPr>
            <a:r>
              <a:t>•  Managed weekly EDL, XML, and AAF timeline conform handoffs from the editorial cutting room.</a:t>
            </a:r>
          </a:p>
          <a:p>
            <a:pPr>
              <a:lnSpc>
                <a:spcPct val="115000"/>
              </a:lnSpc>
              <a:spcAft>
                <a:spcPts val="400"/>
              </a:spcAft>
              <a:defRPr sz="1000">
                <a:solidFill>
                  <a:srgbClr val="475569"/>
                </a:solidFill>
                <a:latin typeface="Calibri"/>
              </a:defRPr>
            </a:pPr>
            <a:r>
              <a:t>•  Monitored Shot Change Orders (SCOs), tracking frame boundary adjustments, slip edits, and editorial repositions.</a:t>
            </a:r>
          </a:p>
          <a:p>
            <a:pPr>
              <a:lnSpc>
                <a:spcPct val="115000"/>
              </a:lnSpc>
              <a:spcAft>
                <a:spcPts val="400"/>
              </a:spcAft>
              <a:defRPr sz="1000">
                <a:solidFill>
                  <a:srgbClr val="475569"/>
                </a:solidFill>
                <a:latin typeface="Calibri"/>
              </a:defRPr>
            </a:pPr>
            <a:r>
              <a:t>•  Enforced standard +8 frame head and tail handles across all VFX shot dispatches to accommodate downstream editorial trimming.</a:t>
            </a:r>
          </a:p>
          <a:p>
            <a:pPr>
              <a:lnSpc>
                <a:spcPct val="115000"/>
              </a:lnSpc>
              <a:spcAft>
                <a:spcPts val="400"/>
              </a:spcAft>
              <a:defRPr sz="1000">
                <a:solidFill>
                  <a:srgbClr val="475569"/>
                </a:solidFill>
                <a:latin typeface="Calibri"/>
              </a:defRPr>
            </a:pPr>
            <a:r>
              <a:t>•  Maintained an automated timeline diff tracker, alerting artists whenever editorial cuts altered shot duration or motion dynamics.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PRODUCTION MANAGEMENT &amp; ARTIST DIRECTION</a:t>
            </a:r>
          </a:p>
          <a:p>
            <a:pPr>
              <a:spcAft>
                <a:spcPts val="200"/>
              </a:spcAft>
              <a:defRPr sz="2100" b="1">
                <a:solidFill>
                  <a:srgbClr val="0F172A"/>
                </a:solidFill>
                <a:latin typeface="Calibri"/>
              </a:defRPr>
            </a:pPr>
            <a:r>
              <a:t>Director Intent Translation &amp; Technical VFX Briefing</a:t>
            </a:r>
          </a:p>
          <a:p>
            <a:pPr>
              <a:defRPr sz="1050">
                <a:solidFill>
                  <a:srgbClr val="475569"/>
                </a:solidFill>
                <a:latin typeface="Calibri"/>
              </a:defRPr>
            </a:pPr>
            <a:r>
              <a:t>Translating Cinematic Vision into Structured, Actionable Artist Deliverables</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09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142</a:t>
            </a:r>
          </a:p>
          <a:p>
            <a:pPr>
              <a:defRPr sz="850" b="1">
                <a:solidFill>
                  <a:srgbClr val="0F172A"/>
                </a:solidFill>
                <a:latin typeface="Calibri"/>
              </a:defRPr>
            </a:pPr>
            <a:r>
              <a:t>Technical Shot Briefs Authored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Director Creative Alignment Achieved</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 Tiers</a:t>
            </a:r>
          </a:p>
          <a:p>
            <a:pPr>
              <a:defRPr sz="850" b="1">
                <a:solidFill>
                  <a:srgbClr val="0F172A"/>
                </a:solidFill>
                <a:latin typeface="Calibri"/>
              </a:defRPr>
            </a:pPr>
            <a:r>
              <a:t>Shot Complexity Hierarchy (Tier A-D)</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15 min</a:t>
            </a:r>
          </a:p>
          <a:p>
            <a:pPr>
              <a:defRPr sz="850" b="1">
                <a:solidFill>
                  <a:srgbClr val="0F172A"/>
                </a:solidFill>
                <a:latin typeface="Calibri"/>
              </a:defRPr>
            </a:pPr>
            <a:r>
              <a:t>Turnaround from Director Note to Brief</a:t>
            </a:r>
          </a:p>
        </p:txBody>
      </p:sp>
      <p:sp>
        <p:nvSpPr>
          <p:cNvPr id="9" name="Rounded Rectangle 8"/>
          <p:cNvSpPr/>
          <p:nvPr/>
        </p:nvSpPr>
        <p:spPr>
          <a:xfrm>
            <a:off x="731520" y="2395728"/>
            <a:ext cx="5204307"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CREATIVE DIRECTION</a:t>
            </a:r>
          </a:p>
          <a:p>
            <a:pPr>
              <a:spcAft>
                <a:spcPts val="600"/>
              </a:spcAft>
              <a:defRPr sz="1450" b="1">
                <a:solidFill>
                  <a:srgbClr val="0F172A"/>
                </a:solidFill>
                <a:latin typeface="Calibri"/>
              </a:defRPr>
            </a:pPr>
            <a:r>
              <a:t>Narrative Deconstruction &amp; Intent Extraction</a:t>
            </a:r>
          </a:p>
          <a:p>
            <a:pPr>
              <a:lnSpc>
                <a:spcPct val="118000"/>
              </a:lnSpc>
              <a:spcAft>
                <a:spcPts val="500"/>
              </a:spcAft>
              <a:defRPr sz="1050">
                <a:solidFill>
                  <a:srgbClr val="475569"/>
                </a:solidFill>
                <a:latin typeface="Calibri"/>
              </a:defRPr>
            </a:pPr>
            <a:r>
              <a:t>•  Attended on-set director reviews and script read-throughs to capture the narrative subtext, pacing, and emotional weight of every VFX sequence.</a:t>
            </a:r>
          </a:p>
          <a:p>
            <a:pPr>
              <a:lnSpc>
                <a:spcPct val="118000"/>
              </a:lnSpc>
              <a:spcAft>
                <a:spcPts val="500"/>
              </a:spcAft>
              <a:defRPr sz="1050">
                <a:solidFill>
                  <a:srgbClr val="475569"/>
                </a:solidFill>
                <a:latin typeface="Calibri"/>
              </a:defRPr>
            </a:pPr>
            <a:r>
              <a:t>•  Translated qualitative directorial instructions (e.g. 'make the horizon feel suffocating and militaristic') into concrete visual art direction rules.</a:t>
            </a:r>
          </a:p>
          <a:p>
            <a:pPr>
              <a:lnSpc>
                <a:spcPct val="118000"/>
              </a:lnSpc>
              <a:spcAft>
                <a:spcPts val="500"/>
              </a:spcAft>
              <a:defRPr sz="1050">
                <a:solidFill>
                  <a:srgbClr val="475569"/>
                </a:solidFill>
                <a:latin typeface="Calibri"/>
              </a:defRPr>
            </a:pPr>
            <a:r>
              <a:t>•  Clarified visual hierarchy: defined focal story points versus secondary atmospheric background elements to guide comp artist focus.</a:t>
            </a:r>
          </a:p>
          <a:p>
            <a:pPr>
              <a:lnSpc>
                <a:spcPct val="118000"/>
              </a:lnSpc>
              <a:spcAft>
                <a:spcPts val="500"/>
              </a:spcAft>
              <a:defRPr sz="1050">
                <a:solidFill>
                  <a:srgbClr val="475569"/>
                </a:solidFill>
                <a:latin typeface="Calibri"/>
              </a:defRPr>
            </a:pPr>
            <a:r>
              <a:t>•  Established strict boundary limits for artist creative license, ensuring stylistic cohesion across disparate vendor teams and bullpen departments.</a:t>
            </a:r>
          </a:p>
        </p:txBody>
      </p:sp>
      <p:sp>
        <p:nvSpPr>
          <p:cNvPr id="10" name="Rounded Rectangle 9"/>
          <p:cNvSpPr/>
          <p:nvPr/>
        </p:nvSpPr>
        <p:spPr>
          <a:xfrm>
            <a:off x="6255867" y="2395728"/>
            <a:ext cx="5204307"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EXECUTION SPECIFICATION</a:t>
            </a:r>
          </a:p>
          <a:p>
            <a:pPr>
              <a:spcAft>
                <a:spcPts val="600"/>
              </a:spcAft>
              <a:defRPr sz="1450" b="1">
                <a:solidFill>
                  <a:srgbClr val="0F172A"/>
                </a:solidFill>
                <a:latin typeface="Calibri"/>
              </a:defRPr>
            </a:pPr>
            <a:r>
              <a:t>Technical Shot Specification &amp; Bullpen Packages</a:t>
            </a:r>
          </a:p>
          <a:p>
            <a:pPr>
              <a:lnSpc>
                <a:spcPct val="118000"/>
              </a:lnSpc>
              <a:spcAft>
                <a:spcPts val="500"/>
              </a:spcAft>
              <a:defRPr sz="1050">
                <a:solidFill>
                  <a:srgbClr val="475569"/>
                </a:solidFill>
                <a:latin typeface="Calibri"/>
              </a:defRPr>
            </a:pPr>
            <a:r>
              <a:t>•  Authored comprehensive Shot Task Briefs in ShotGrid detailing: narrative context, camera move typology, focal length, sensor crop, and shot duration.</a:t>
            </a:r>
          </a:p>
          <a:p>
            <a:pPr>
              <a:lnSpc>
                <a:spcPct val="118000"/>
              </a:lnSpc>
              <a:spcAft>
                <a:spcPts val="500"/>
              </a:spcAft>
              <a:defRPr sz="1050">
                <a:solidFill>
                  <a:srgbClr val="475569"/>
                </a:solidFill>
                <a:latin typeface="Calibri"/>
              </a:defRPr>
            </a:pPr>
            <a:r>
              <a:t>•  Bound specific asset packages to each task: linked calibrated 3D LiDAR proxy meshes, rectified 32-bit HDRIs, and lens ST-Map distortion grids.</a:t>
            </a:r>
          </a:p>
          <a:p>
            <a:pPr>
              <a:lnSpc>
                <a:spcPct val="118000"/>
              </a:lnSpc>
              <a:spcAft>
                <a:spcPts val="500"/>
              </a:spcAft>
              <a:defRPr sz="1050">
                <a:solidFill>
                  <a:srgbClr val="475569"/>
                </a:solidFill>
                <a:latin typeface="Calibri"/>
              </a:defRPr>
            </a:pPr>
            <a:r>
              <a:t>•  Categorized shots into 4 difficulty tiers to optimize bullpen talent allocation: Tier-A (hero creature/destruction), Tier-B (complex 3D extension), Tier-C (planar screen comps), Tier-D (paint/cleanup).</a:t>
            </a:r>
          </a:p>
          <a:p>
            <a:pPr>
              <a:lnSpc>
                <a:spcPct val="118000"/>
              </a:lnSpc>
              <a:spcAft>
                <a:spcPts val="500"/>
              </a:spcAft>
              <a:defRPr sz="1050">
                <a:solidFill>
                  <a:srgbClr val="475569"/>
                </a:solidFill>
                <a:latin typeface="Calibri"/>
              </a:defRPr>
            </a:pPr>
            <a:r>
              <a:t>•  Established clear 'Acceptance Criteria' checkboxes for each artist: sub-pixel tracking lock, black-level matching, edge softness, and grain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POST-PRODUCTION PIPELINE &amp; QUALITY CONTROL</a:t>
            </a:r>
          </a:p>
          <a:p>
            <a:pPr>
              <a:spcAft>
                <a:spcPts val="200"/>
              </a:spcAft>
              <a:defRPr sz="2100" b="1">
                <a:solidFill>
                  <a:srgbClr val="0F172A"/>
                </a:solidFill>
                <a:latin typeface="Calibri"/>
              </a:defRPr>
            </a:pPr>
            <a:r>
              <a:t>Quality Control (QC), Slating &amp; Shot Assembly Pipeline</a:t>
            </a:r>
          </a:p>
          <a:p>
            <a:pPr>
              <a:defRPr sz="1050">
                <a:solidFill>
                  <a:srgbClr val="475569"/>
                </a:solidFill>
                <a:latin typeface="Calibri"/>
              </a:defRPr>
            </a:pPr>
            <a:r>
              <a:t>Multi-Tier Inspection Protocols, Automated Slating, and Master Review Reels</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10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Spec Compliance across 142 VFX Submissions</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Zero</a:t>
            </a:r>
          </a:p>
          <a:p>
            <a:pPr>
              <a:defRPr sz="850" b="1">
                <a:solidFill>
                  <a:srgbClr val="0F172A"/>
                </a:solidFill>
                <a:latin typeface="Calibri"/>
              </a:defRPr>
            </a:pPr>
            <a:r>
              <a:t>Technical Rejections at Studio Delivery</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4-Tier</a:t>
            </a:r>
          </a:p>
          <a:p>
            <a:pPr>
              <a:defRPr sz="850" b="1">
                <a:solidFill>
                  <a:srgbClr val="0F172A"/>
                </a:solidFill>
                <a:latin typeface="Calibri"/>
              </a:defRPr>
            </a:pPr>
            <a:r>
              <a:t>Forensic QC Protocol (Spatial, Color, Mattes, Grain)</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Daily</a:t>
            </a:r>
          </a:p>
          <a:p>
            <a:pPr>
              <a:defRPr sz="850" b="1">
                <a:solidFill>
                  <a:srgbClr val="0F172A"/>
                </a:solidFill>
                <a:latin typeface="Calibri"/>
              </a:defRPr>
            </a:pPr>
            <a:r>
              <a:t>Master QC Review Reels Audited in RV</a:t>
            </a:r>
          </a:p>
        </p:txBody>
      </p:sp>
      <p:sp>
        <p:nvSpPr>
          <p:cNvPr id="9" name="Rounded Rectangle 8"/>
          <p:cNvSpPr/>
          <p:nvPr/>
        </p:nvSpPr>
        <p:spPr>
          <a:xfrm>
            <a:off x="731520" y="239572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SLATE AUTOMATION</a:t>
            </a:r>
          </a:p>
          <a:p>
            <a:pPr>
              <a:spcAft>
                <a:spcPts val="600"/>
              </a:spcAft>
              <a:defRPr sz="1250" b="1">
                <a:solidFill>
                  <a:srgbClr val="0F172A"/>
                </a:solidFill>
                <a:latin typeface="Calibri"/>
              </a:defRPr>
            </a:pPr>
            <a:r>
              <a:t>Automated Python Slating &amp; Metadata</a:t>
            </a:r>
          </a:p>
          <a:p>
            <a:pPr>
              <a:lnSpc>
                <a:spcPct val="112000"/>
              </a:lnSpc>
              <a:spcAft>
                <a:spcPts val="200"/>
              </a:spcAft>
              <a:defRPr sz="919">
                <a:solidFill>
                  <a:srgbClr val="475569"/>
                </a:solidFill>
                <a:latin typeface="Calibri"/>
              </a:defRPr>
            </a:pPr>
            <a:r>
              <a:t>•  Developed and executed automated Python scripts using OpenImageIO and FFmpeg to generate standardized 24-frame VFX review slates.</a:t>
            </a:r>
          </a:p>
          <a:p>
            <a:pPr>
              <a:lnSpc>
                <a:spcPct val="112000"/>
              </a:lnSpc>
              <a:spcAft>
                <a:spcPts val="200"/>
              </a:spcAft>
              <a:defRPr sz="919">
                <a:solidFill>
                  <a:srgbClr val="475569"/>
                </a:solidFill>
                <a:latin typeface="Calibri"/>
              </a:defRPr>
            </a:pPr>
            <a:r>
              <a:t>•  Burned in dynamic shot metadata: sequence, shot code, version number, artist name, date, focal length, frame range, and color space.</a:t>
            </a:r>
          </a:p>
          <a:p>
            <a:pPr>
              <a:lnSpc>
                <a:spcPct val="112000"/>
              </a:lnSpc>
              <a:spcAft>
                <a:spcPts val="200"/>
              </a:spcAft>
              <a:defRPr sz="919">
                <a:solidFill>
                  <a:srgbClr val="475569"/>
                </a:solidFill>
                <a:latin typeface="Calibri"/>
              </a:defRPr>
            </a:pPr>
            <a:r>
              <a:t>•  Injected lower-third continuous timecode, frame counter, and editorial cut-handle visual indicators.</a:t>
            </a:r>
          </a:p>
          <a:p>
            <a:pPr>
              <a:lnSpc>
                <a:spcPct val="112000"/>
              </a:lnSpc>
              <a:spcAft>
                <a:spcPts val="200"/>
              </a:spcAft>
              <a:defRPr sz="919">
                <a:solidFill>
                  <a:srgbClr val="475569"/>
                </a:solidFill>
                <a:latin typeface="Calibri"/>
              </a:defRPr>
            </a:pPr>
            <a:r>
              <a:t>•  Guaranteed absolute format standardization across all incoming artist composite renders before executive review.</a:t>
            </a:r>
          </a:p>
        </p:txBody>
      </p:sp>
      <p:sp>
        <p:nvSpPr>
          <p:cNvPr id="10" name="Rounded Rectangle 9"/>
          <p:cNvSpPr/>
          <p:nvPr/>
        </p:nvSpPr>
        <p:spPr>
          <a:xfrm>
            <a:off x="6255867" y="239572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SOLVE STABILITY</a:t>
            </a:r>
          </a:p>
          <a:p>
            <a:pPr>
              <a:spcAft>
                <a:spcPts val="600"/>
              </a:spcAft>
              <a:defRPr sz="1250" b="1">
                <a:solidFill>
                  <a:srgbClr val="0F172A"/>
                </a:solidFill>
                <a:latin typeface="Calibri"/>
              </a:defRPr>
            </a:pPr>
            <a:r>
              <a:t>Spatial Alignment &amp; Tracking QC</a:t>
            </a:r>
          </a:p>
          <a:p>
            <a:pPr>
              <a:lnSpc>
                <a:spcPct val="112000"/>
              </a:lnSpc>
              <a:spcAft>
                <a:spcPts val="200"/>
              </a:spcAft>
              <a:defRPr sz="919">
                <a:solidFill>
                  <a:srgbClr val="475569"/>
                </a:solidFill>
                <a:latin typeface="Calibri"/>
              </a:defRPr>
            </a:pPr>
            <a:r>
              <a:t>•  Inspected tracking solves against 3D LiDAR proxy wireframe overlays to detect subtle pixel drift, sliding, or axis wobble.</a:t>
            </a:r>
          </a:p>
          <a:p>
            <a:pPr>
              <a:lnSpc>
                <a:spcPct val="112000"/>
              </a:lnSpc>
              <a:spcAft>
                <a:spcPts val="200"/>
              </a:spcAft>
              <a:defRPr sz="919">
                <a:solidFill>
                  <a:srgbClr val="475569"/>
                </a:solidFill>
                <a:latin typeface="Calibri"/>
              </a:defRPr>
            </a:pPr>
            <a:r>
              <a:t>•  Applied high-contrast difference keys and checkerboard composite wipes across high-contrast edges during camera pans.</a:t>
            </a:r>
          </a:p>
          <a:p>
            <a:pPr>
              <a:lnSpc>
                <a:spcPct val="112000"/>
              </a:lnSpc>
              <a:spcAft>
                <a:spcPts val="200"/>
              </a:spcAft>
              <a:defRPr sz="919">
                <a:solidFill>
                  <a:srgbClr val="475569"/>
                </a:solidFill>
                <a:latin typeface="Calibri"/>
              </a:defRPr>
            </a:pPr>
            <a:r>
              <a:t>•  Evaluated depth order consistency between live-action foreground talent, midground practical props, and virtual background extensions.</a:t>
            </a:r>
          </a:p>
          <a:p>
            <a:pPr>
              <a:lnSpc>
                <a:spcPct val="112000"/>
              </a:lnSpc>
              <a:spcAft>
                <a:spcPts val="200"/>
              </a:spcAft>
              <a:defRPr sz="919">
                <a:solidFill>
                  <a:srgbClr val="475569"/>
                </a:solidFill>
                <a:latin typeface="Calibri"/>
              </a:defRPr>
            </a:pPr>
            <a:r>
              <a:t>•  Verified contact point solidity: ensured digital characters and vehicles exhibited true zero-slip foot contact with ground geometry.</a:t>
            </a:r>
          </a:p>
        </p:txBody>
      </p:sp>
      <p:sp>
        <p:nvSpPr>
          <p:cNvPr id="11" name="Rounded Rectangle 10"/>
          <p:cNvSpPr/>
          <p:nvPr/>
        </p:nvSpPr>
        <p:spPr>
          <a:xfrm>
            <a:off x="731520" y="449884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LOOKDEV RIGOR</a:t>
            </a:r>
          </a:p>
          <a:p>
            <a:pPr>
              <a:spcAft>
                <a:spcPts val="600"/>
              </a:spcAft>
              <a:defRPr sz="1250" b="1">
                <a:solidFill>
                  <a:srgbClr val="0F172A"/>
                </a:solidFill>
                <a:latin typeface="Calibri"/>
              </a:defRPr>
            </a:pPr>
            <a:r>
              <a:t>Photometric &amp; Color Audit (ACEScg)</a:t>
            </a:r>
          </a:p>
          <a:p>
            <a:pPr>
              <a:lnSpc>
                <a:spcPct val="112000"/>
              </a:lnSpc>
              <a:spcAft>
                <a:spcPts val="200"/>
              </a:spcAft>
              <a:defRPr sz="919">
                <a:solidFill>
                  <a:srgbClr val="475569"/>
                </a:solidFill>
                <a:latin typeface="Calibri"/>
              </a:defRPr>
            </a:pPr>
            <a:r>
              <a:t>•  Audited color consistency in OpenColorIO (OCIO) within RV and Nuke under calibrated Rec.709 and DCI-P3 display transforms.</a:t>
            </a:r>
          </a:p>
          <a:p>
            <a:pPr>
              <a:lnSpc>
                <a:spcPct val="112000"/>
              </a:lnSpc>
              <a:spcAft>
                <a:spcPts val="200"/>
              </a:spcAft>
              <a:defRPr sz="919">
                <a:solidFill>
                  <a:srgbClr val="475569"/>
                </a:solidFill>
                <a:latin typeface="Calibri"/>
              </a:defRPr>
            </a:pPr>
            <a:r>
              <a:t>•  Inspected black-level matching across color channels: ensured CG shadow values matched native camera sensor black floor (pedestal).</a:t>
            </a:r>
          </a:p>
          <a:p>
            <a:pPr>
              <a:lnSpc>
                <a:spcPct val="112000"/>
              </a:lnSpc>
              <a:spcAft>
                <a:spcPts val="200"/>
              </a:spcAft>
              <a:defRPr sz="919">
                <a:solidFill>
                  <a:srgbClr val="475569"/>
                </a:solidFill>
                <a:latin typeface="Calibri"/>
              </a:defRPr>
            </a:pPr>
            <a:r>
              <a:t>•  Verified highlight roll-off and specular clipping behavior, preventing synthetic harsh clamping in bright practical lighting zones.</a:t>
            </a:r>
          </a:p>
          <a:p>
            <a:pPr>
              <a:lnSpc>
                <a:spcPct val="112000"/>
              </a:lnSpc>
              <a:spcAft>
                <a:spcPts val="200"/>
              </a:spcAft>
              <a:defRPr sz="919">
                <a:solidFill>
                  <a:srgbClr val="475569"/>
                </a:solidFill>
                <a:latin typeface="Calibri"/>
              </a:defRPr>
            </a:pPr>
            <a:r>
              <a:t>•  Verified white point and color temperature uniformity between live foreground plates and digital matte paintings.</a:t>
            </a:r>
          </a:p>
        </p:txBody>
      </p:sp>
      <p:sp>
        <p:nvSpPr>
          <p:cNvPr id="12" name="Rounded Rectangle 11"/>
          <p:cNvSpPr/>
          <p:nvPr/>
        </p:nvSpPr>
        <p:spPr>
          <a:xfrm>
            <a:off x="6255867" y="4498848"/>
            <a:ext cx="5204307" cy="19019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PIXEL FORENSICS</a:t>
            </a:r>
          </a:p>
          <a:p>
            <a:pPr>
              <a:spcAft>
                <a:spcPts val="600"/>
              </a:spcAft>
              <a:defRPr sz="1250" b="1">
                <a:solidFill>
                  <a:srgbClr val="0F172A"/>
                </a:solidFill>
                <a:latin typeface="Calibri"/>
              </a:defRPr>
            </a:pPr>
            <a:r>
              <a:t>Edge Integrity, Mattes &amp; Grain QC</a:t>
            </a:r>
          </a:p>
          <a:p>
            <a:pPr>
              <a:lnSpc>
                <a:spcPct val="112000"/>
              </a:lnSpc>
              <a:spcAft>
                <a:spcPts val="200"/>
              </a:spcAft>
              <a:defRPr sz="919">
                <a:solidFill>
                  <a:srgbClr val="475569"/>
                </a:solidFill>
                <a:latin typeface="Calibri"/>
              </a:defRPr>
            </a:pPr>
            <a:r>
              <a:t>•  Evaluated roto and keying edges at 200% magnification, detecting edge chatter, fringing, dark halos, or eroded hair strands.</a:t>
            </a:r>
          </a:p>
          <a:p>
            <a:pPr>
              <a:lnSpc>
                <a:spcPct val="112000"/>
              </a:lnSpc>
              <a:spcAft>
                <a:spcPts val="200"/>
              </a:spcAft>
              <a:defRPr sz="919">
                <a:solidFill>
                  <a:srgbClr val="475569"/>
                </a:solidFill>
                <a:latin typeface="Calibri"/>
              </a:defRPr>
            </a:pPr>
            <a:r>
              <a:t>•  Verified motion blur vector directionality and shutter timing matching native camera sensor 180° motion blur.</a:t>
            </a:r>
          </a:p>
          <a:p>
            <a:pPr>
              <a:lnSpc>
                <a:spcPct val="112000"/>
              </a:lnSpc>
              <a:spcAft>
                <a:spcPts val="200"/>
              </a:spcAft>
              <a:defRPr sz="919">
                <a:solidFill>
                  <a:srgbClr val="475569"/>
                </a:solidFill>
                <a:latin typeface="Calibri"/>
              </a:defRPr>
            </a:pPr>
            <a:r>
              <a:t>•  Audited synthetic film grain: ensured rendered elements were degrained during comp and regrained using native plate-sampled noise profiles.</a:t>
            </a:r>
          </a:p>
          <a:p>
            <a:pPr>
              <a:lnSpc>
                <a:spcPct val="112000"/>
              </a:lnSpc>
              <a:spcAft>
                <a:spcPts val="200"/>
              </a:spcAft>
              <a:defRPr sz="919">
                <a:solidFill>
                  <a:srgbClr val="475569"/>
                </a:solidFill>
                <a:latin typeface="Calibri"/>
              </a:defRPr>
            </a:pPr>
            <a:r>
              <a:t>•  Confirmed correct optical depth-of-field falloff matching the specific prime lens focal length and aperture characteristics.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CLIENT RELATIONS &amp; STUDIO OPERATIONS</a:t>
            </a:r>
          </a:p>
          <a:p>
            <a:pPr>
              <a:spcAft>
                <a:spcPts val="200"/>
              </a:spcAft>
              <a:defRPr sz="2100" b="1">
                <a:solidFill>
                  <a:srgbClr val="0F172A"/>
                </a:solidFill>
                <a:latin typeface="Calibri"/>
              </a:defRPr>
            </a:pPr>
            <a:r>
              <a:t>Production House Liaison &amp; Studio Delivery Sign-Off</a:t>
            </a:r>
          </a:p>
          <a:p>
            <a:pPr>
              <a:defRPr sz="1050">
                <a:solidFill>
                  <a:srgbClr val="475569"/>
                </a:solidFill>
                <a:latin typeface="Calibri"/>
              </a:defRPr>
            </a:pPr>
            <a:r>
              <a:t>Managing Review Cycles, Client Feedback Triage, and Studio Conform Delivery</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11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3 Cycles</a:t>
            </a:r>
          </a:p>
          <a:p>
            <a:pPr>
              <a:defRPr sz="850" b="1">
                <a:solidFill>
                  <a:srgbClr val="0F172A"/>
                </a:solidFill>
                <a:latin typeface="Calibri"/>
              </a:defRPr>
            </a:pPr>
            <a:r>
              <a:t>Major Studio Client Reviews Managed</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94.2%</a:t>
            </a:r>
          </a:p>
          <a:p>
            <a:pPr>
              <a:defRPr sz="850" b="1">
                <a:solidFill>
                  <a:srgbClr val="0F172A"/>
                </a:solidFill>
                <a:latin typeface="Calibri"/>
              </a:defRPr>
            </a:pPr>
            <a:r>
              <a:t>First-Pass Revision Approval Rate</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On-Time Contractual Milestone Delivery</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16-bit EXR</a:t>
            </a:r>
          </a:p>
          <a:p>
            <a:pPr>
              <a:defRPr sz="850" b="1">
                <a:solidFill>
                  <a:srgbClr val="0F172A"/>
                </a:solidFill>
                <a:latin typeface="Calibri"/>
              </a:defRPr>
            </a:pPr>
            <a:r>
              <a:t>Half-Float Master Packages Conformed</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EXECUTIVE REVIEW</a:t>
            </a:r>
          </a:p>
          <a:p>
            <a:pPr>
              <a:spcAft>
                <a:spcPts val="600"/>
              </a:spcAft>
              <a:defRPr sz="1350" b="1">
                <a:solidFill>
                  <a:srgbClr val="0F172A"/>
                </a:solidFill>
                <a:latin typeface="Calibri"/>
              </a:defRPr>
            </a:pPr>
            <a:r>
              <a:t>Client Review Preparation &amp; Presentation</a:t>
            </a:r>
          </a:p>
          <a:p>
            <a:pPr>
              <a:lnSpc>
                <a:spcPct val="115000"/>
              </a:lnSpc>
              <a:spcAft>
                <a:spcPts val="400"/>
              </a:spcAft>
              <a:defRPr sz="1000">
                <a:solidFill>
                  <a:srgbClr val="475569"/>
                </a:solidFill>
                <a:latin typeface="Calibri"/>
              </a:defRPr>
            </a:pPr>
            <a:r>
              <a:t>•  Prepared daily and weekly executive review sessions in RV / cineSync for Production House Supervisors and Studio Executives.</a:t>
            </a:r>
          </a:p>
          <a:p>
            <a:pPr>
              <a:lnSpc>
                <a:spcPct val="115000"/>
              </a:lnSpc>
              <a:spcAft>
                <a:spcPts val="400"/>
              </a:spcAft>
              <a:defRPr sz="1000">
                <a:solidFill>
                  <a:srgbClr val="475569"/>
                </a:solidFill>
                <a:latin typeface="Calibri"/>
              </a:defRPr>
            </a:pPr>
            <a:r>
              <a:t>•  Structured review playlists with synchronized split-screen comparisons: live-action plate, tracking wireframe, beauty comp, and final grade.</a:t>
            </a:r>
          </a:p>
          <a:p>
            <a:pPr>
              <a:lnSpc>
                <a:spcPct val="115000"/>
              </a:lnSpc>
              <a:spcAft>
                <a:spcPts val="400"/>
              </a:spcAft>
              <a:defRPr sz="1000">
                <a:solidFill>
                  <a:srgbClr val="475569"/>
                </a:solidFill>
                <a:latin typeface="Calibri"/>
              </a:defRPr>
            </a:pPr>
            <a:r>
              <a:t>•  Articulated technical justifications for complex shot compromises, aligning executive creative expectations with physical plate realities.</a:t>
            </a:r>
          </a:p>
          <a:p>
            <a:pPr>
              <a:lnSpc>
                <a:spcPct val="115000"/>
              </a:lnSpc>
              <a:spcAft>
                <a:spcPts val="400"/>
              </a:spcAft>
              <a:defRPr sz="1000">
                <a:solidFill>
                  <a:srgbClr val="475569"/>
                </a:solidFill>
                <a:latin typeface="Calibri"/>
              </a:defRPr>
            </a:pPr>
            <a:r>
              <a:t>•  Documented all review discussions in real-time, capturing verbatim client notes directly into ShotGrid review sessions.</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FEEDBACK TRIAGE</a:t>
            </a:r>
          </a:p>
          <a:p>
            <a:pPr>
              <a:spcAft>
                <a:spcPts val="600"/>
              </a:spcAft>
              <a:defRPr sz="1350" b="1">
                <a:solidFill>
                  <a:srgbClr val="0F172A"/>
                </a:solidFill>
                <a:latin typeface="Calibri"/>
              </a:defRPr>
            </a:pPr>
            <a:r>
              <a:t>Client Note Triage &amp; Revision Routing</a:t>
            </a:r>
          </a:p>
          <a:p>
            <a:pPr>
              <a:lnSpc>
                <a:spcPct val="115000"/>
              </a:lnSpc>
              <a:spcAft>
                <a:spcPts val="400"/>
              </a:spcAft>
              <a:defRPr sz="1000">
                <a:solidFill>
                  <a:srgbClr val="475569"/>
                </a:solidFill>
                <a:latin typeface="Calibri"/>
              </a:defRPr>
            </a:pPr>
            <a:r>
              <a:t>•  Parsed subjective client notes into discrete, actionable technical directives for comp, tracking, and lighting leads.</a:t>
            </a:r>
          </a:p>
          <a:p>
            <a:pPr>
              <a:lnSpc>
                <a:spcPct val="115000"/>
              </a:lnSpc>
              <a:spcAft>
                <a:spcPts val="400"/>
              </a:spcAft>
              <a:defRPr sz="1000">
                <a:solidFill>
                  <a:srgbClr val="475569"/>
                </a:solidFill>
                <a:latin typeface="Calibri"/>
              </a:defRPr>
            </a:pPr>
            <a:r>
              <a:t>•  Categorized revisions into critical notes (story-essential) versus polish notes (nice-to-have), managing artist bandwidth against delivery deadlines.</a:t>
            </a:r>
          </a:p>
          <a:p>
            <a:pPr>
              <a:lnSpc>
                <a:spcPct val="115000"/>
              </a:lnSpc>
              <a:spcAft>
                <a:spcPts val="400"/>
              </a:spcAft>
              <a:defRPr sz="1000">
                <a:solidFill>
                  <a:srgbClr val="475569"/>
                </a:solidFill>
                <a:latin typeface="Calibri"/>
              </a:defRPr>
            </a:pPr>
            <a:r>
              <a:t>•  Negotiated scope boundaries when studio requests threatened schedule baselines, offering viable alternate visual solutions.</a:t>
            </a:r>
          </a:p>
          <a:p>
            <a:pPr>
              <a:lnSpc>
                <a:spcPct val="115000"/>
              </a:lnSpc>
              <a:spcAft>
                <a:spcPts val="400"/>
              </a:spcAft>
              <a:defRPr sz="1000">
                <a:solidFill>
                  <a:srgbClr val="475569"/>
                </a:solidFill>
                <a:latin typeface="Calibri"/>
              </a:defRPr>
            </a:pPr>
            <a:r>
              <a:t>•  Achieved a 94.2% approval rate on subsequent version submissions through precise note interpretation and proactive artist guidance.</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CONFORM SIGN-OFF</a:t>
            </a:r>
          </a:p>
          <a:p>
            <a:pPr>
              <a:spcAft>
                <a:spcPts val="600"/>
              </a:spcAft>
              <a:defRPr sz="1350" b="1">
                <a:solidFill>
                  <a:srgbClr val="0F172A"/>
                </a:solidFill>
                <a:latin typeface="Calibri"/>
              </a:defRPr>
            </a:pPr>
            <a:r>
              <a:t>Studio Conform, Checksum &amp; Delivery</a:t>
            </a:r>
          </a:p>
          <a:p>
            <a:pPr>
              <a:lnSpc>
                <a:spcPct val="115000"/>
              </a:lnSpc>
              <a:spcAft>
                <a:spcPts val="400"/>
              </a:spcAft>
              <a:defRPr sz="1000">
                <a:solidFill>
                  <a:srgbClr val="475569"/>
                </a:solidFill>
                <a:latin typeface="Calibri"/>
              </a:defRPr>
            </a:pPr>
            <a:r>
              <a:t>•  Assembled final approved composite deliverables: 16-bit half-float OpenEXR sequences in ACEScg with full channel layers.</a:t>
            </a:r>
          </a:p>
          <a:p>
            <a:pPr>
              <a:lnSpc>
                <a:spcPct val="115000"/>
              </a:lnSpc>
              <a:spcAft>
                <a:spcPts val="400"/>
              </a:spcAft>
              <a:defRPr sz="1000">
                <a:solidFill>
                  <a:srgbClr val="475569"/>
                </a:solidFill>
                <a:latin typeface="Calibri"/>
              </a:defRPr>
            </a:pPr>
            <a:r>
              <a:t>•  Generated companion delivery packages: matte passes, depth channels (Z), motion vectors (Fwd/Bwd), and beauty composites.</a:t>
            </a:r>
          </a:p>
          <a:p>
            <a:pPr>
              <a:lnSpc>
                <a:spcPct val="115000"/>
              </a:lnSpc>
              <a:spcAft>
                <a:spcPts val="400"/>
              </a:spcAft>
              <a:defRPr sz="1000">
                <a:solidFill>
                  <a:srgbClr val="475569"/>
                </a:solidFill>
                <a:latin typeface="Calibri"/>
              </a:defRPr>
            </a:pPr>
            <a:r>
              <a:t>•  Executed SHA-256 checksum validations across all delivered sequence folders to guarantee bit-level delivery integrity.</a:t>
            </a:r>
          </a:p>
          <a:p>
            <a:pPr>
              <a:lnSpc>
                <a:spcPct val="115000"/>
              </a:lnSpc>
              <a:spcAft>
                <a:spcPts val="400"/>
              </a:spcAft>
              <a:defRPr sz="1000">
                <a:solidFill>
                  <a:srgbClr val="475569"/>
                </a:solidFill>
                <a:latin typeface="Calibri"/>
              </a:defRPr>
            </a:pPr>
            <a:r>
              <a:t>•  Conformed final VFX deliveries against the master editorial DI timeline, securing formal written conform sign-off from the Lead Studio Supervisor.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ARTIST MASTERY &amp; CAMERA MATCHMOVING</a:t>
            </a:r>
          </a:p>
          <a:p>
            <a:pPr>
              <a:spcAft>
                <a:spcPts val="200"/>
              </a:spcAft>
              <a:defRPr sz="2100" b="1">
                <a:solidFill>
                  <a:srgbClr val="0F172A"/>
                </a:solidFill>
                <a:latin typeface="Calibri"/>
              </a:defRPr>
            </a:pPr>
            <a:r>
              <a:t>3D Camera Tracking, Trajectory Solving &amp; Lens Distortion</a:t>
            </a:r>
          </a:p>
          <a:p>
            <a:pPr>
              <a:defRPr sz="1050">
                <a:solidFill>
                  <a:srgbClr val="475569"/>
                </a:solidFill>
                <a:latin typeface="Calibri"/>
              </a:defRPr>
            </a:pPr>
            <a:r>
              <a:t>Precision Matchmoving Across Nodal Pans, Dynamic Crane Moves, and Lens Breathing</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12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&lt;0.40 px</a:t>
            </a:r>
          </a:p>
          <a:p>
            <a:pPr>
              <a:defRPr sz="850" b="1">
                <a:solidFill>
                  <a:srgbClr val="0F172A"/>
                </a:solidFill>
                <a:latin typeface="Calibri"/>
              </a:defRPr>
            </a:pPr>
            <a:r>
              <a:t>Mean Reprojection Error across Solves</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85 Moves</a:t>
            </a:r>
          </a:p>
          <a:p>
            <a:pPr>
              <a:defRPr sz="850" b="1">
                <a:solidFill>
                  <a:srgbClr val="0F172A"/>
                </a:solidFill>
                <a:latin typeface="Calibri"/>
              </a:defRPr>
            </a:pPr>
            <a:r>
              <a:t>Complex 6-DOF Crane &amp; Dolly Trajectories</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12 Moves</a:t>
            </a:r>
          </a:p>
          <a:p>
            <a:pPr>
              <a:defRPr sz="850" b="1">
                <a:solidFill>
                  <a:srgbClr val="0F172A"/>
                </a:solidFill>
                <a:latin typeface="Calibri"/>
              </a:defRPr>
            </a:pPr>
            <a:r>
              <a:t>Variable Focal Length &amp; Dynamic Zooms</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Custom 32-bit Lens ST-Maps Generated</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SOLVER ARCHITECTURE</a:t>
            </a:r>
          </a:p>
          <a:p>
            <a:pPr>
              <a:spcAft>
                <a:spcPts val="600"/>
              </a:spcAft>
              <a:defRPr sz="1350" b="1">
                <a:solidFill>
                  <a:srgbClr val="0F172A"/>
                </a:solidFill>
                <a:latin typeface="Calibri"/>
              </a:defRPr>
            </a:pPr>
            <a:r>
              <a:t>Trajectory Solving: Nodal vs 6-DOF</a:t>
            </a:r>
          </a:p>
          <a:p>
            <a:pPr>
              <a:lnSpc>
                <a:spcPct val="115000"/>
              </a:lnSpc>
              <a:spcAft>
                <a:spcPts val="400"/>
              </a:spcAft>
              <a:defRPr sz="1000">
                <a:solidFill>
                  <a:srgbClr val="475569"/>
                </a:solidFill>
                <a:latin typeface="Calibri"/>
              </a:defRPr>
            </a:pPr>
            <a:r>
              <a:t>•  Executed camera solves in 3DEqualizer and Nuke Camera Tracker, distinguishing between pure 3-DOF nodal pans and 6-DOF translational moves.</a:t>
            </a:r>
          </a:p>
          <a:p>
            <a:pPr>
              <a:lnSpc>
                <a:spcPct val="115000"/>
              </a:lnSpc>
              <a:spcAft>
                <a:spcPts val="400"/>
              </a:spcAft>
              <a:defRPr sz="1000">
                <a:solidFill>
                  <a:srgbClr val="475569"/>
                </a:solidFill>
                <a:latin typeface="Calibri"/>
              </a:defRPr>
            </a:pPr>
            <a:r>
              <a:t>•  Solved complex camera trajectories: high-speed Technocrane sweeps, vehicle mounts with high-frequency engine vibration, and Steadicam moves.</a:t>
            </a:r>
          </a:p>
          <a:p>
            <a:pPr>
              <a:lnSpc>
                <a:spcPct val="115000"/>
              </a:lnSpc>
              <a:spcAft>
                <a:spcPts val="400"/>
              </a:spcAft>
              <a:defRPr sz="1000">
                <a:solidFill>
                  <a:srgbClr val="475569"/>
                </a:solidFill>
                <a:latin typeface="Calibri"/>
              </a:defRPr>
            </a:pPr>
            <a:r>
              <a:t>•  Handled zero-parallax nodal pans by locking camera translation to origin (0,0,0) and solving purely rotational matrices, preventing depth solve explosion.</a:t>
            </a:r>
          </a:p>
          <a:p>
            <a:pPr>
              <a:lnSpc>
                <a:spcPct val="115000"/>
              </a:lnSpc>
              <a:spcAft>
                <a:spcPts val="400"/>
              </a:spcAft>
              <a:defRPr sz="1000">
                <a:solidFill>
                  <a:srgbClr val="475569"/>
                </a:solidFill>
                <a:latin typeface="Calibri"/>
              </a:defRPr>
            </a:pPr>
            <a:r>
              <a:t>•  Integrated off-axis witness camera tracking tracks as secondary constraints to triangulate camera position during heavy actor foreground occlusion.</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LENS METROLOGY</a:t>
            </a:r>
          </a:p>
          <a:p>
            <a:pPr>
              <a:spcAft>
                <a:spcPts val="600"/>
              </a:spcAft>
              <a:defRPr sz="1350" b="1">
                <a:solidFill>
                  <a:srgbClr val="0F172A"/>
                </a:solidFill>
                <a:latin typeface="Calibri"/>
              </a:defRPr>
            </a:pPr>
            <a:r>
              <a:t>Optical Distortion Modeling &amp; ST-Maps</a:t>
            </a:r>
          </a:p>
          <a:p>
            <a:pPr>
              <a:lnSpc>
                <a:spcPct val="115000"/>
              </a:lnSpc>
              <a:spcAft>
                <a:spcPts val="400"/>
              </a:spcAft>
              <a:defRPr sz="1000">
                <a:solidFill>
                  <a:srgbClr val="475569"/>
                </a:solidFill>
                <a:latin typeface="Calibri"/>
              </a:defRPr>
            </a:pPr>
            <a:r>
              <a:t>•  Shot and analyzed anamorphic and spherical lens checkerboard distortion grids for every prime lens in the camera package (18mm to 100mm).</a:t>
            </a:r>
          </a:p>
          <a:p>
            <a:pPr>
              <a:lnSpc>
                <a:spcPct val="115000"/>
              </a:lnSpc>
              <a:spcAft>
                <a:spcPts val="400"/>
              </a:spcAft>
              <a:defRPr sz="1000">
                <a:solidFill>
                  <a:srgbClr val="475569"/>
                </a:solidFill>
                <a:latin typeface="Calibri"/>
              </a:defRPr>
            </a:pPr>
            <a:r>
              <a:t>•  Modeled radial and tangential lens distortion profiles, calculating precise optical center offsets and anamorphic squeeze ratios.</a:t>
            </a:r>
          </a:p>
          <a:p>
            <a:pPr>
              <a:lnSpc>
                <a:spcPct val="115000"/>
              </a:lnSpc>
              <a:spcAft>
                <a:spcPts val="400"/>
              </a:spcAft>
              <a:defRPr sz="1000">
                <a:solidFill>
                  <a:srgbClr val="475569"/>
                </a:solidFill>
                <a:latin typeface="Calibri"/>
              </a:defRPr>
            </a:pPr>
            <a:r>
              <a:t>•  Generated 32-bit floating-point UV ST-Maps for seamless plate undistortion prior to CG integration, and exact redistortion post-comp.</a:t>
            </a:r>
          </a:p>
          <a:p>
            <a:pPr>
              <a:lnSpc>
                <a:spcPct val="115000"/>
              </a:lnSpc>
              <a:spcAft>
                <a:spcPts val="400"/>
              </a:spcAft>
              <a:defRPr sz="1000">
                <a:solidFill>
                  <a:srgbClr val="475569"/>
                </a:solidFill>
                <a:latin typeface="Calibri"/>
              </a:defRPr>
            </a:pPr>
            <a:r>
              <a:t>•  Compensated for dynamic lens focal breathing during rack focus shots using keyframed optical center and focal length curves.</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METRIC RIGOR</a:t>
            </a:r>
          </a:p>
          <a:p>
            <a:pPr>
              <a:spcAft>
                <a:spcPts val="600"/>
              </a:spcAft>
              <a:defRPr sz="1350" b="1">
                <a:solidFill>
                  <a:srgbClr val="0F172A"/>
                </a:solidFill>
                <a:latin typeface="Calibri"/>
              </a:defRPr>
            </a:pPr>
            <a:r>
              <a:t>Survey Geometry Alignment &amp; Reprojection QA</a:t>
            </a:r>
          </a:p>
          <a:p>
            <a:pPr>
              <a:lnSpc>
                <a:spcPct val="115000"/>
              </a:lnSpc>
              <a:spcAft>
                <a:spcPts val="400"/>
              </a:spcAft>
              <a:defRPr sz="1000">
                <a:solidFill>
                  <a:srgbClr val="475569"/>
                </a:solidFill>
                <a:latin typeface="Calibri"/>
              </a:defRPr>
            </a:pPr>
            <a:r>
              <a:t>•  Aligned solved 3D camera paths directly to registered LiDAR set scans and physical survey datum points.</a:t>
            </a:r>
          </a:p>
          <a:p>
            <a:pPr>
              <a:lnSpc>
                <a:spcPct val="115000"/>
              </a:lnSpc>
              <a:spcAft>
                <a:spcPts val="400"/>
              </a:spcAft>
              <a:defRPr sz="1000">
                <a:solidFill>
                  <a:srgbClr val="475569"/>
                </a:solidFill>
                <a:latin typeface="Calibri"/>
              </a:defRPr>
            </a:pPr>
            <a:r>
              <a:t>•  Enforced a strict maximum reprojection error threshold of &lt;0.40 pixels across the entire frame sequence.</a:t>
            </a:r>
          </a:p>
          <a:p>
            <a:pPr>
              <a:lnSpc>
                <a:spcPct val="115000"/>
              </a:lnSpc>
              <a:spcAft>
                <a:spcPts val="400"/>
              </a:spcAft>
              <a:defRPr sz="1000">
                <a:solidFill>
                  <a:srgbClr val="475569"/>
                </a:solidFill>
                <a:latin typeface="Calibri"/>
              </a:defRPr>
            </a:pPr>
            <a:r>
              <a:t>•  Evaluated solve stability by projecting checkerboard textures and proxy wireframes onto 3D environment geometry in Maya and Nuke.</a:t>
            </a:r>
          </a:p>
          <a:p>
            <a:pPr>
              <a:lnSpc>
                <a:spcPct val="115000"/>
              </a:lnSpc>
              <a:spcAft>
                <a:spcPts val="400"/>
              </a:spcAft>
              <a:defRPr sz="1000">
                <a:solidFill>
                  <a:srgbClr val="475569"/>
                </a:solidFill>
                <a:latin typeface="Calibri"/>
              </a:defRPr>
            </a:pPr>
            <a:r>
              <a:t>•  Delivered clean, standardized Maya camera rigs with locked sensor aspect ratios, film gate apertures, and animated translation channels.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ENVIRONMENT LAYOUT &amp; COMPOSITING PLATES</a:t>
            </a:r>
          </a:p>
          <a:p>
            <a:pPr>
              <a:spcAft>
                <a:spcPts val="200"/>
              </a:spcAft>
              <a:defRPr sz="2100" b="1">
                <a:solidFill>
                  <a:srgbClr val="0F172A"/>
                </a:solidFill>
                <a:latin typeface="Calibri"/>
              </a:defRPr>
            </a:pPr>
            <a:r>
              <a:t>Virtual Backgrounds, Level Design Plates &amp; Environment Integration</a:t>
            </a:r>
          </a:p>
          <a:p>
            <a:pPr>
              <a:defRPr sz="1050">
                <a:solidFill>
                  <a:srgbClr val="475569"/>
                </a:solidFill>
                <a:latin typeface="Calibri"/>
              </a:defRPr>
            </a:pPr>
            <a:r>
              <a:t>Deep Environment Layout, 2.5D/3D Matte Projection, and Atmospheric Staging</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13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14 Plates</a:t>
            </a:r>
          </a:p>
          <a:p>
            <a:pPr>
              <a:defRPr sz="850" b="1">
                <a:solidFill>
                  <a:srgbClr val="0F172A"/>
                </a:solidFill>
                <a:latin typeface="Calibri"/>
              </a:defRPr>
            </a:pPr>
            <a:r>
              <a:t>Hero Virtual Background Matte Layouts</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5 Layers</a:t>
            </a:r>
          </a:p>
          <a:p>
            <a:pPr>
              <a:defRPr sz="850" b="1">
                <a:solidFill>
                  <a:srgbClr val="0F172A"/>
                </a:solidFill>
                <a:latin typeface="Calibri"/>
              </a:defRPr>
            </a:pPr>
            <a:r>
              <a:t>Multi-Plane Depth Staging per Scene</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Horizon &amp; Vanishing Point Plate Alignment</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3D Proxies</a:t>
            </a:r>
          </a:p>
          <a:p>
            <a:pPr>
              <a:defRPr sz="850" b="1">
                <a:solidFill>
                  <a:srgbClr val="0F172A"/>
                </a:solidFill>
                <a:latin typeface="Calibri"/>
              </a:defRPr>
            </a:pPr>
            <a:r>
              <a:t>Layout Assemblies in Unreal Engine &amp; Maya</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LAYOUT DESIGN</a:t>
            </a:r>
          </a:p>
          <a:p>
            <a:pPr>
              <a:spcAft>
                <a:spcPts val="600"/>
              </a:spcAft>
              <a:defRPr sz="1350" b="1">
                <a:solidFill>
                  <a:srgbClr val="0F172A"/>
                </a:solidFill>
                <a:latin typeface="Calibri"/>
              </a:defRPr>
            </a:pPr>
            <a:r>
              <a:t>Environment Architecture &amp; Level Staging</a:t>
            </a:r>
          </a:p>
          <a:p>
            <a:pPr>
              <a:lnSpc>
                <a:spcPct val="115000"/>
              </a:lnSpc>
              <a:spcAft>
                <a:spcPts val="400"/>
              </a:spcAft>
              <a:defRPr sz="1000">
                <a:solidFill>
                  <a:srgbClr val="475569"/>
                </a:solidFill>
                <a:latin typeface="Calibri"/>
              </a:defRPr>
            </a:pPr>
            <a:r>
              <a:t>•  Designed modular 3D architectural kits and natural landscape assets in Maya and Unreal Engine to extend soundstage physical sets.</a:t>
            </a:r>
          </a:p>
          <a:p>
            <a:pPr>
              <a:lnSpc>
                <a:spcPct val="115000"/>
              </a:lnSpc>
              <a:spcAft>
                <a:spcPts val="400"/>
              </a:spcAft>
              <a:defRPr sz="1000">
                <a:solidFill>
                  <a:srgbClr val="475569"/>
                </a:solidFill>
                <a:latin typeface="Calibri"/>
              </a:defRPr>
            </a:pPr>
            <a:r>
              <a:t>•  Positioned environment silhouettes, mountain ridges, and industrial complexes in deep background space matching narrative storyboards.</a:t>
            </a:r>
          </a:p>
          <a:p>
            <a:pPr>
              <a:lnSpc>
                <a:spcPct val="115000"/>
              </a:lnSpc>
              <a:spcAft>
                <a:spcPts val="400"/>
              </a:spcAft>
              <a:defRPr sz="1000">
                <a:solidFill>
                  <a:srgbClr val="475569"/>
                </a:solidFill>
                <a:latin typeface="Calibri"/>
              </a:defRPr>
            </a:pPr>
            <a:r>
              <a:t>•  Aligned environment horizon lines and primary vanishing points to match the live-action camera sensor height and lens tilt exactly.</a:t>
            </a:r>
          </a:p>
          <a:p>
            <a:pPr>
              <a:lnSpc>
                <a:spcPct val="115000"/>
              </a:lnSpc>
              <a:spcAft>
                <a:spcPts val="400"/>
              </a:spcAft>
              <a:defRPr sz="1000">
                <a:solidFill>
                  <a:srgbClr val="475569"/>
                </a:solidFill>
                <a:latin typeface="Calibri"/>
              </a:defRPr>
            </a:pPr>
            <a:r>
              <a:t>•  Built proxy blocking geometry to cast accurate shadows and provide physical collision references for digital characters and vehicles.</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MATTE PROJECTION</a:t>
            </a:r>
          </a:p>
          <a:p>
            <a:pPr>
              <a:spcAft>
                <a:spcPts val="600"/>
              </a:spcAft>
              <a:defRPr sz="1350" b="1">
                <a:solidFill>
                  <a:srgbClr val="0F172A"/>
                </a:solidFill>
                <a:latin typeface="Calibri"/>
              </a:defRPr>
            </a:pPr>
            <a:r>
              <a:t>2.5D / 3D Matte Projection &amp; Parallax</a:t>
            </a:r>
          </a:p>
          <a:p>
            <a:pPr>
              <a:lnSpc>
                <a:spcPct val="115000"/>
              </a:lnSpc>
              <a:spcAft>
                <a:spcPts val="400"/>
              </a:spcAft>
              <a:defRPr sz="1000">
                <a:solidFill>
                  <a:srgbClr val="475569"/>
                </a:solidFill>
                <a:latin typeface="Calibri"/>
              </a:defRPr>
            </a:pPr>
            <a:r>
              <a:t>•  Partitioned digital matte paintings into 5 discrete depth planes: foreground set extensions, near-midground buildings, far-midground terrain, deep mountains, and sky dome.</a:t>
            </a:r>
          </a:p>
          <a:p>
            <a:pPr>
              <a:lnSpc>
                <a:spcPct val="115000"/>
              </a:lnSpc>
              <a:spcAft>
                <a:spcPts val="400"/>
              </a:spcAft>
              <a:defRPr sz="1000">
                <a:solidFill>
                  <a:srgbClr val="475569"/>
                </a:solidFill>
                <a:latin typeface="Calibri"/>
              </a:defRPr>
            </a:pPr>
            <a:r>
              <a:t>•  Projected high-resolution digital matte paintings onto simplified 3D geometry cards in Nuke and Maya using projected camera setups.</a:t>
            </a:r>
          </a:p>
          <a:p>
            <a:pPr>
              <a:lnSpc>
                <a:spcPct val="115000"/>
              </a:lnSpc>
              <a:spcAft>
                <a:spcPts val="400"/>
              </a:spcAft>
              <a:defRPr sz="1000">
                <a:solidFill>
                  <a:srgbClr val="475569"/>
                </a:solidFill>
                <a:latin typeface="Calibri"/>
              </a:defRPr>
            </a:pPr>
            <a:r>
              <a:t>•  Verified natural perspective parallax during wide Technocrane sweeps, ensuring background elements shifted realistically relative to live foreground plates.</a:t>
            </a:r>
          </a:p>
          <a:p>
            <a:pPr>
              <a:lnSpc>
                <a:spcPct val="115000"/>
              </a:lnSpc>
              <a:spcAft>
                <a:spcPts val="400"/>
              </a:spcAft>
              <a:defRPr sz="1000">
                <a:solidFill>
                  <a:srgbClr val="475569"/>
                </a:solidFill>
                <a:latin typeface="Calibri"/>
              </a:defRPr>
            </a:pPr>
            <a:r>
              <a:t>•  Eliminated texture stretching on steep terrain geometry through procedural slope blending and secondary projection cameras.</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ATMOSPHERIC COMP</a:t>
            </a:r>
          </a:p>
          <a:p>
            <a:pPr>
              <a:spcAft>
                <a:spcPts val="600"/>
              </a:spcAft>
              <a:defRPr sz="1350" b="1">
                <a:solidFill>
                  <a:srgbClr val="0F172A"/>
                </a:solidFill>
                <a:latin typeface="Calibri"/>
              </a:defRPr>
            </a:pPr>
            <a:r>
              <a:t>Atmospheric Depth &amp; Photometric Harmony</a:t>
            </a:r>
          </a:p>
          <a:p>
            <a:pPr>
              <a:lnSpc>
                <a:spcPct val="115000"/>
              </a:lnSpc>
              <a:spcAft>
                <a:spcPts val="400"/>
              </a:spcAft>
              <a:defRPr sz="1000">
                <a:solidFill>
                  <a:srgbClr val="475569"/>
                </a:solidFill>
                <a:latin typeface="Calibri"/>
              </a:defRPr>
            </a:pPr>
            <a:r>
              <a:t>•  Integrated physically based atmospheric haze, aerial perspective, and distance-based contrast falloff using depth passes (Z-depth).</a:t>
            </a:r>
          </a:p>
          <a:p>
            <a:pPr>
              <a:lnSpc>
                <a:spcPct val="115000"/>
              </a:lnSpc>
              <a:spcAft>
                <a:spcPts val="400"/>
              </a:spcAft>
              <a:defRPr sz="1000">
                <a:solidFill>
                  <a:srgbClr val="475569"/>
                </a:solidFill>
                <a:latin typeface="Calibri"/>
              </a:defRPr>
            </a:pPr>
            <a:r>
              <a:t>•  Matched virtual environment illumination to on-set HDRI lighting captures: aligned primary sun angle, shadow sharpness, and ambient sky bounce.</a:t>
            </a:r>
          </a:p>
          <a:p>
            <a:pPr>
              <a:lnSpc>
                <a:spcPct val="115000"/>
              </a:lnSpc>
              <a:spcAft>
                <a:spcPts val="400"/>
              </a:spcAft>
              <a:defRPr sz="1000">
                <a:solidFill>
                  <a:srgbClr val="475569"/>
                </a:solidFill>
                <a:latin typeface="Calibri"/>
              </a:defRPr>
            </a:pPr>
            <a:r>
              <a:t>•  Composited dynamic elements—volumetric smoke plumes, drifting fog layers, heat shimmer, and localized dust motes—to inject organic life into virtual plates.</a:t>
            </a:r>
          </a:p>
          <a:p>
            <a:pPr>
              <a:lnSpc>
                <a:spcPct val="115000"/>
              </a:lnSpc>
              <a:spcAft>
                <a:spcPts val="400"/>
              </a:spcAft>
              <a:defRPr sz="1000">
                <a:solidFill>
                  <a:srgbClr val="475569"/>
                </a:solidFill>
                <a:latin typeface="Calibri"/>
              </a:defRPr>
            </a:pPr>
            <a:r>
              <a:t>•  Balanced background color temperature to blend invisibly with live-action blue screen spill-suppressed plate boundaries.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9082735" cy="932688"/>
          </a:xfrm>
          <a:prstGeom prst="rect">
            <a:avLst/>
          </a:prstGeom>
          <a:noFill/>
        </p:spPr>
        <p:txBody>
          <a:bodyPr wrap="square" lIns="0" rIns="0" tIns="0" bIns="0">
            <a:spAutoFit/>
          </a:bodyPr>
          <a:lstStyle/>
          <a:p>
            <a:pPr>
              <a:spcAft>
                <a:spcPts val="100"/>
              </a:spcAft>
              <a:defRPr sz="950" b="1">
                <a:solidFill>
                  <a:srgbClr val="2563EB"/>
                </a:solidFill>
                <a:latin typeface="Calibri"/>
              </a:defRPr>
            </a:pPr>
            <a:r>
              <a:t>CONCLUSION &amp; CAREER RETROSPECTIVE</a:t>
            </a:r>
          </a:p>
          <a:p>
            <a:pPr>
              <a:spcAft>
                <a:spcPts val="200"/>
              </a:spcAft>
              <a:defRPr sz="2100" b="1">
                <a:solidFill>
                  <a:srgbClr val="0F172A"/>
                </a:solidFill>
                <a:latin typeface="Calibri"/>
              </a:defRPr>
            </a:pPr>
            <a:r>
              <a:t>Production Impact, Technical Toolchain &amp; Senior Readiness</a:t>
            </a:r>
          </a:p>
          <a:p>
            <a:pPr>
              <a:defRPr sz="1050">
                <a:solidFill>
                  <a:srgbClr val="475569"/>
                </a:solidFill>
                <a:latin typeface="Calibri"/>
              </a:defRPr>
            </a:pPr>
            <a:r>
              <a:t>Quantified Delivery Milestones, Toolchain Mastery, and Executive Retrospective</a:t>
            </a:r>
          </a:p>
        </p:txBody>
      </p:sp>
      <p:sp>
        <p:nvSpPr>
          <p:cNvPr id="3" name="TextBox 2"/>
          <p:cNvSpPr txBox="1"/>
          <p:nvPr/>
        </p:nvSpPr>
        <p:spPr>
          <a:xfrm>
            <a:off x="9814255" y="457200"/>
            <a:ext cx="1645920" cy="365760"/>
          </a:xfrm>
          <a:prstGeom prst="rect">
            <a:avLst/>
          </a:prstGeom>
          <a:noFill/>
        </p:spPr>
        <p:txBody>
          <a:bodyPr wrap="none" lIns="0" rIns="0" tIns="0" bIns="0">
            <a:spAutoFit/>
          </a:bodyPr>
          <a:lstStyle/>
          <a:p>
            <a:pPr algn="r">
              <a:defRPr sz="1100" b="1">
                <a:solidFill>
                  <a:srgbClr val="94A3B8"/>
                </a:solidFill>
                <a:latin typeface="Calibri"/>
              </a:defRPr>
            </a:pPr>
            <a:r>
              <a:t>14 / 14</a:t>
            </a:r>
          </a:p>
        </p:txBody>
      </p:sp>
      <p:sp>
        <p:nvSpPr>
          <p:cNvPr id="4" name="Rectangle 3"/>
          <p:cNvSpPr/>
          <p:nvPr/>
        </p:nvSpPr>
        <p:spPr>
          <a:xfrm>
            <a:off x="731520" y="1417320"/>
            <a:ext cx="10728655" cy="1270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142 / 142</a:t>
            </a:r>
          </a:p>
          <a:p>
            <a:pPr>
              <a:defRPr sz="850" b="1">
                <a:solidFill>
                  <a:srgbClr val="0F172A"/>
                </a:solidFill>
                <a:latin typeface="Calibri"/>
              </a:defRPr>
            </a:pPr>
            <a:r>
              <a:t>Feature VFX Shots Delivered on Schedule</a:t>
            </a:r>
          </a:p>
        </p:txBody>
      </p:sp>
      <p:sp>
        <p:nvSpPr>
          <p:cNvPr id="6" name="Rounded Rectangle 5"/>
          <p:cNvSpPr/>
          <p:nvPr/>
        </p:nvSpPr>
        <p:spPr>
          <a:xfrm>
            <a:off x="3459403"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28%</a:t>
            </a:r>
          </a:p>
          <a:p>
            <a:pPr>
              <a:defRPr sz="850" b="1">
                <a:solidFill>
                  <a:srgbClr val="0F172A"/>
                </a:solidFill>
                <a:latin typeface="Calibri"/>
              </a:defRPr>
            </a:pPr>
            <a:r>
              <a:t>Measured Pipeline Efficiency Gain</a:t>
            </a:r>
          </a:p>
        </p:txBody>
      </p:sp>
      <p:sp>
        <p:nvSpPr>
          <p:cNvPr id="7" name="Rounded Rectangle 6"/>
          <p:cNvSpPr/>
          <p:nvPr/>
        </p:nvSpPr>
        <p:spPr>
          <a:xfrm>
            <a:off x="6187287"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12+ Tools</a:t>
            </a:r>
          </a:p>
          <a:p>
            <a:pPr>
              <a:defRPr sz="850" b="1">
                <a:solidFill>
                  <a:srgbClr val="0F172A"/>
                </a:solidFill>
                <a:latin typeface="Calibri"/>
              </a:defRPr>
            </a:pPr>
            <a:r>
              <a:t>Industry Software Suites Mastered</a:t>
            </a:r>
          </a:p>
        </p:txBody>
      </p:sp>
      <p:sp>
        <p:nvSpPr>
          <p:cNvPr id="8" name="Rounded Rectangle 7"/>
          <p:cNvSpPr/>
          <p:nvPr/>
        </p:nvSpPr>
        <p:spPr>
          <a:xfrm>
            <a:off x="8915171" y="1536192"/>
            <a:ext cx="2545003"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73152"/>
          <a:lstStyle/>
          <a:p>
            <a:pPr algn="ctr">
              <a:spcAft>
                <a:spcPts val="100"/>
              </a:spcAft>
              <a:defRPr sz="1900" b="1">
                <a:solidFill>
                  <a:srgbClr val="2563EB"/>
                </a:solidFill>
                <a:latin typeface="Calibri"/>
              </a:defRPr>
            </a:pPr>
            <a:r>
              <a:t>100%</a:t>
            </a:r>
          </a:p>
          <a:p>
            <a:pPr>
              <a:defRPr sz="850" b="1">
                <a:solidFill>
                  <a:srgbClr val="0F172A"/>
                </a:solidFill>
                <a:latin typeface="Calibri"/>
              </a:defRPr>
            </a:pPr>
            <a:r>
              <a:t>Senior VFX Leadership Readiness</a:t>
            </a:r>
          </a:p>
        </p:txBody>
      </p:sp>
      <p:sp>
        <p:nvSpPr>
          <p:cNvPr id="9" name="Rounded Rectangle 8"/>
          <p:cNvSpPr/>
          <p:nvPr/>
        </p:nvSpPr>
        <p:spPr>
          <a:xfrm>
            <a:off x="731520"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QUANTIFIED IMPACT</a:t>
            </a:r>
          </a:p>
          <a:p>
            <a:pPr>
              <a:spcAft>
                <a:spcPts val="600"/>
              </a:spcAft>
              <a:defRPr sz="1350" b="1">
                <a:solidFill>
                  <a:srgbClr val="0F172A"/>
                </a:solidFill>
                <a:latin typeface="Calibri"/>
              </a:defRPr>
            </a:pPr>
            <a:r>
              <a:t>Operational Impact &amp; Pipeline Optimization</a:t>
            </a:r>
          </a:p>
          <a:p>
            <a:pPr>
              <a:lnSpc>
                <a:spcPct val="115000"/>
              </a:lnSpc>
              <a:spcAft>
                <a:spcPts val="400"/>
              </a:spcAft>
              <a:defRPr sz="1000">
                <a:solidFill>
                  <a:srgbClr val="475569"/>
                </a:solidFill>
                <a:latin typeface="Calibri"/>
              </a:defRPr>
            </a:pPr>
            <a:r>
              <a:t>•  Successfully completed 142 complex visual effects shots within schedule and budget constraints, logging zero technical rejections.</a:t>
            </a:r>
          </a:p>
          <a:p>
            <a:pPr>
              <a:lnSpc>
                <a:spcPct val="115000"/>
              </a:lnSpc>
              <a:spcAft>
                <a:spcPts val="400"/>
              </a:spcAft>
              <a:defRPr sz="1000">
                <a:solidFill>
                  <a:srgbClr val="475569"/>
                </a:solidFill>
                <a:latin typeface="Calibri"/>
              </a:defRPr>
            </a:pPr>
            <a:r>
              <a:t>•  Reduced daily on-set data acquisition latency by 28% through standardized slating kits, laser templates, and motorized HDRI rigs.</a:t>
            </a:r>
          </a:p>
          <a:p>
            <a:pPr>
              <a:lnSpc>
                <a:spcPct val="115000"/>
              </a:lnSpc>
              <a:spcAft>
                <a:spcPts val="400"/>
              </a:spcAft>
              <a:defRPr sz="1000">
                <a:solidFill>
                  <a:srgbClr val="475569"/>
                </a:solidFill>
                <a:latin typeface="Calibri"/>
              </a:defRPr>
            </a:pPr>
            <a:r>
              <a:t>•  Eliminated matchmove solve failures across the bullpen by mandating multi-plane marker grids and ground-truth laser surveys.</a:t>
            </a:r>
          </a:p>
          <a:p>
            <a:pPr>
              <a:lnSpc>
                <a:spcPct val="115000"/>
              </a:lnSpc>
              <a:spcAft>
                <a:spcPts val="400"/>
              </a:spcAft>
              <a:defRPr sz="1000">
                <a:solidFill>
                  <a:srgbClr val="475569"/>
                </a:solidFill>
                <a:latin typeface="Calibri"/>
              </a:defRPr>
            </a:pPr>
            <a:r>
              <a:t>•  Saved an estimated 120 artist days of rotoscopy and clean-up through strict spill suppression and marker exclusion protocols.</a:t>
            </a:r>
          </a:p>
        </p:txBody>
      </p:sp>
      <p:sp>
        <p:nvSpPr>
          <p:cNvPr id="10" name="Rounded Rectangle 9"/>
          <p:cNvSpPr/>
          <p:nvPr/>
        </p:nvSpPr>
        <p:spPr>
          <a:xfrm>
            <a:off x="4383938"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SOFTWARE &amp; HARDWARE</a:t>
            </a:r>
          </a:p>
          <a:p>
            <a:pPr>
              <a:spcAft>
                <a:spcPts val="600"/>
              </a:spcAft>
              <a:defRPr sz="1350" b="1">
                <a:solidFill>
                  <a:srgbClr val="0F172A"/>
                </a:solidFill>
                <a:latin typeface="Calibri"/>
              </a:defRPr>
            </a:pPr>
            <a:r>
              <a:t>Comprehensive Industry Toolchain Mastery</a:t>
            </a:r>
          </a:p>
          <a:p>
            <a:pPr>
              <a:lnSpc>
                <a:spcPct val="115000"/>
              </a:lnSpc>
              <a:spcAft>
                <a:spcPts val="400"/>
              </a:spcAft>
              <a:defRPr sz="1000">
                <a:solidFill>
                  <a:srgbClr val="475569"/>
                </a:solidFill>
                <a:latin typeface="Calibri"/>
              </a:defRPr>
            </a:pPr>
            <a:r>
              <a:t>•  On-Set Hardware &amp; Metrology: Faro Focus S350 &amp; Leica RTC360 LiDAR, Leica DISTO D510 Laser, Sony A7R IV 360 HDRI Rigs, X-Rite ColorChecker, Inclinometers.</a:t>
            </a:r>
          </a:p>
          <a:p>
            <a:pPr>
              <a:lnSpc>
                <a:spcPct val="115000"/>
              </a:lnSpc>
              <a:spcAft>
                <a:spcPts val="400"/>
              </a:spcAft>
              <a:defRPr sz="1000">
                <a:solidFill>
                  <a:srgbClr val="475569"/>
                </a:solidFill>
                <a:latin typeface="Calibri"/>
              </a:defRPr>
            </a:pPr>
            <a:r>
              <a:t>•  3D Tracking &amp; Matchmoving: 3DEqualizer 4, Nuke Camera Tracker, Syntheyes, lens distortion ST-Map calibration.</a:t>
            </a:r>
          </a:p>
          <a:p>
            <a:pPr>
              <a:lnSpc>
                <a:spcPct val="115000"/>
              </a:lnSpc>
              <a:spcAft>
                <a:spcPts val="400"/>
              </a:spcAft>
              <a:defRPr sz="1000">
                <a:solidFill>
                  <a:srgbClr val="475569"/>
                </a:solidFill>
                <a:latin typeface="Calibri"/>
              </a:defRPr>
            </a:pPr>
            <a:r>
              <a:t>•  DCC &amp; Environment Layout: Autodesk Maya, SideFX Houdini, Unreal Engine 5.4, RealityCapture, PTGui Pro.</a:t>
            </a:r>
          </a:p>
          <a:p>
            <a:pPr>
              <a:lnSpc>
                <a:spcPct val="115000"/>
              </a:lnSpc>
              <a:spcAft>
                <a:spcPts val="400"/>
              </a:spcAft>
              <a:defRPr sz="1000">
                <a:solidFill>
                  <a:srgbClr val="475569"/>
                </a:solidFill>
                <a:latin typeface="Calibri"/>
              </a:defRPr>
            </a:pPr>
            <a:r>
              <a:t>•  Compositing, Review &amp; Pipeline: Foundry NukeX, RV, cineSync, ShotGrid, OpenColorIO (ACEScg), Python scripting.</a:t>
            </a:r>
          </a:p>
        </p:txBody>
      </p:sp>
      <p:sp>
        <p:nvSpPr>
          <p:cNvPr id="11" name="Rounded Rectangle 10"/>
          <p:cNvSpPr/>
          <p:nvPr/>
        </p:nvSpPr>
        <p:spPr>
          <a:xfrm>
            <a:off x="8036356" y="2395728"/>
            <a:ext cx="3423818" cy="40050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ctr">
              <a:spcAft>
                <a:spcPts val="200"/>
              </a:spcAft>
              <a:defRPr sz="850" b="1">
                <a:solidFill>
                  <a:srgbClr val="2563EB"/>
                </a:solidFill>
                <a:latin typeface="Calibri"/>
              </a:defRPr>
            </a:pPr>
            <a:r>
              <a:t>SENIOR READINESS</a:t>
            </a:r>
          </a:p>
          <a:p>
            <a:pPr>
              <a:spcAft>
                <a:spcPts val="600"/>
              </a:spcAft>
              <a:defRPr sz="1350" b="1">
                <a:solidFill>
                  <a:srgbClr val="0F172A"/>
                </a:solidFill>
                <a:latin typeface="Calibri"/>
              </a:defRPr>
            </a:pPr>
            <a:r>
              <a:t>Executive Retrospective &amp; Senior Trajectory</a:t>
            </a:r>
          </a:p>
          <a:p>
            <a:pPr>
              <a:lnSpc>
                <a:spcPct val="115000"/>
              </a:lnSpc>
              <a:spcAft>
                <a:spcPts val="400"/>
              </a:spcAft>
              <a:defRPr sz="1000">
                <a:solidFill>
                  <a:srgbClr val="475569"/>
                </a:solidFill>
                <a:latin typeface="Calibri"/>
              </a:defRPr>
            </a:pPr>
            <a:r>
              <a:t>•  Demonstrated mastery across the complete feature film VFX lifecycle: from directorial consultations on the shooting stage to final conform sign-off.</a:t>
            </a:r>
          </a:p>
          <a:p>
            <a:pPr>
              <a:lnSpc>
                <a:spcPct val="115000"/>
              </a:lnSpc>
              <a:spcAft>
                <a:spcPts val="400"/>
              </a:spcAft>
              <a:defRPr sz="1000">
                <a:solidFill>
                  <a:srgbClr val="475569"/>
                </a:solidFill>
                <a:latin typeface="Calibri"/>
              </a:defRPr>
            </a:pPr>
            <a:r>
              <a:t>•  Proven ability to lead cross-disciplinary artists, enforce rigorous technical standards, and communicate effectively with studio executives.</a:t>
            </a:r>
          </a:p>
          <a:p>
            <a:pPr>
              <a:lnSpc>
                <a:spcPct val="115000"/>
              </a:lnSpc>
              <a:spcAft>
                <a:spcPts val="400"/>
              </a:spcAft>
              <a:defRPr sz="1000">
                <a:solidFill>
                  <a:srgbClr val="475569"/>
                </a:solidFill>
                <a:latin typeface="Calibri"/>
              </a:defRPr>
            </a:pPr>
            <a:r>
              <a:t>•  Synthesized artistic sensitivity with deep mathematical rigor in spatial metrology and photometric imaging.</a:t>
            </a:r>
          </a:p>
          <a:p>
            <a:pPr>
              <a:lnSpc>
                <a:spcPct val="115000"/>
              </a:lnSpc>
              <a:spcAft>
                <a:spcPts val="400"/>
              </a:spcAft>
              <a:defRPr sz="1000">
                <a:solidFill>
                  <a:srgbClr val="475569"/>
                </a:solidFill>
                <a:latin typeface="Calibri"/>
              </a:defRPr>
            </a:pPr>
            <a:r>
              <a:t>•  Prepared and certified for immediate advancement into Senior Assistant VFX Supervisor, On-Set VFX Supervisor, or Lead Matchmove/Pipeline roles.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